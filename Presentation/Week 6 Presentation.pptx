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U2DMDeQz2sB66gzt8EAcEgBC3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bilgisi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, Dikey Metin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birent: Sonsuz ve Basit - Google Play'de Uygulamalar" id="97" name="Google Shape;97;p1"/>
          <p:cNvPicPr preferRelativeResize="0"/>
          <p:nvPr/>
        </p:nvPicPr>
        <p:blipFill rotWithShape="1">
          <a:blip r:embed="rId3">
            <a:alphaModFix amt="50000"/>
          </a:blip>
          <a:srcRect b="38606" l="0" r="0" t="5144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>
            <p:ph type="ctrTitle"/>
          </p:nvPr>
        </p:nvSpPr>
        <p:spPr>
          <a:xfrm>
            <a:off x="1524000" y="3184244"/>
            <a:ext cx="9144000" cy="2900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lang="tr-TR" cap="none">
                <a:solidFill>
                  <a:srgbClr val="FFFFFF"/>
                </a:solidFill>
              </a:rPr>
              <a:t>A SHORTEST PATH </a:t>
            </a:r>
            <a:br>
              <a:rPr lang="tr-TR" cap="none">
                <a:solidFill>
                  <a:srgbClr val="FFFFFF"/>
                </a:solidFill>
              </a:rPr>
            </a:br>
            <a:r>
              <a:rPr lang="tr-TR" cap="none">
                <a:solidFill>
                  <a:srgbClr val="FFFFFF"/>
                </a:solidFill>
              </a:rPr>
              <a:t>FINDER IN MAZES </a:t>
            </a:r>
            <a:br>
              <a:rPr lang="tr-TR" cap="none">
                <a:solidFill>
                  <a:srgbClr val="FFFFFF"/>
                </a:solidFill>
              </a:rPr>
            </a:br>
            <a:r>
              <a:rPr lang="tr-TR" cap="none">
                <a:solidFill>
                  <a:srgbClr val="FFFFFF"/>
                </a:solidFill>
              </a:rPr>
              <a:t>(WEEK 6)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9" name="Google Shape;99;p1"/>
          <p:cNvSpPr txBox="1"/>
          <p:nvPr>
            <p:ph idx="1" type="subTitle"/>
          </p:nvPr>
        </p:nvSpPr>
        <p:spPr>
          <a:xfrm>
            <a:off x="1524000" y="4630051"/>
            <a:ext cx="9144000" cy="1098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tr-TR" sz="2800"/>
              <a:t>COURSE: I</a:t>
            </a:r>
            <a:r>
              <a:rPr lang="tr-TR" sz="2800"/>
              <a:t>NTRODUCTİON</a:t>
            </a:r>
            <a:r>
              <a:rPr lang="tr-TR" sz="2800"/>
              <a:t> TO AI</a:t>
            </a:r>
            <a:br>
              <a:rPr lang="tr-TR" sz="2800"/>
            </a:br>
            <a:r>
              <a:rPr lang="tr-TR" sz="1800"/>
              <a:t>Group 2 | 2026</a:t>
            </a:r>
            <a:endParaRPr sz="1800"/>
          </a:p>
        </p:txBody>
      </p:sp>
      <p:pic>
        <p:nvPicPr>
          <p:cNvPr descr="A blue and white logo&#10;&#10;AI-generated content may be incorrect.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570" y="168088"/>
            <a:ext cx="1254096" cy="963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tr-TR">
                <a:solidFill>
                  <a:srgbClr val="FFFFFF"/>
                </a:solidFill>
              </a:rPr>
              <a:t>A Shortest Path Finder in Mazes Using Search Algorithms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8" name="Google Shape;108;p2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4196787" y="518276"/>
            <a:ext cx="7438847" cy="5825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tr-TR" sz="2600"/>
              <a:t>Motivation:</a:t>
            </a:r>
            <a:r>
              <a:rPr lang="tr-TR" sz="2600"/>
              <a:t> In a world moving toward total autonomy, pathfinding isn't just about finding a way; it’s about finding the best way in milliseconds.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tr-TR" sz="2600"/>
              <a:t>The Problem:</a:t>
            </a:r>
            <a:r>
              <a:rPr lang="tr-TR" sz="2600"/>
              <a:t> Static algorithms fail when the world changes. This project explores how different "mathematical shortcuts" (heuristics) affect an agent's ability to recalculate paths when obstacles appear suddenly.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tr-TR" sz="2600"/>
              <a:t>Objective:</a:t>
            </a:r>
            <a:r>
              <a:rPr lang="tr-TR" sz="2600"/>
              <a:t> The project focuses on developing a shortest path finder for grid-based mazes by evaluating various search algorithms, initially using BFS and DFS, and improving efficiency with the A* algorithm. It employs randomly generated mazes to find the optimal path while avoiding obstacles. Performance metrics assessed include runtime, the number of explored nodes, and path length, culminating in a system that visualizes the algorithm's maze exploration and optimal path identification.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208650" y="2339925"/>
            <a:ext cx="5879400" cy="4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b="1" lang="tr-TR" sz="2400"/>
              <a:t>Real-World Research Potential (To-Do List):</a:t>
            </a:r>
            <a:br>
              <a:rPr lang="tr-TR" sz="2000"/>
            </a:br>
            <a:br>
              <a:rPr lang="tr-TR" sz="2000"/>
            </a:br>
            <a:r>
              <a:rPr lang="tr-TR" sz="1800"/>
              <a:t>Autonomous Driving: Researching how this algorithm handles "narrow-passage" scenarios similar to city alleyways.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tr-TR" sz="1800"/>
              <a:t>Swarm Robotics: Investigating how multiple agents using A* can avoid each other (Collision Avoidance).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tr-TR" sz="1800"/>
              <a:t>Emergency Response: Researching "Weighted A* to prioritize speed over perfect optimality in disaster zones where time is more critical than a few meters of distance.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tr-TR" sz="1800"/>
              <a:t>Dynamic Weighting: Planning to implement a system where the heuristic changes automatically based on the density of obstacles.</a:t>
            </a:r>
            <a:endParaRPr sz="2000"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208650" y="91227"/>
            <a:ext cx="5681100" cy="17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tr-TR" sz="2400"/>
              <a:t>Related Literature: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tr-TR" sz="1800"/>
              <a:t>Classical Search: Research on Dijkstra’s vs. A* demonstrates that informed search is essential for complex grids.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tr-TR" sz="1800"/>
              <a:t>Heuristic Admissibility: Studies show that Manhattan, Euclidean, and Octile distances are the primary methods for grid-based cost</a:t>
            </a:r>
            <a:r>
              <a:rPr lang="tr-TR" sz="2000"/>
              <a:t> </a:t>
            </a:r>
            <a:r>
              <a:rPr lang="tr-TR" sz="1800"/>
              <a:t>estimation.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descr="Labirent: Sonsuz ve Basit - Google Play'de Uygulamalar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902" r="10209" t="0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 rot="5400000">
            <a:off x="8369424" y="3028872"/>
            <a:ext cx="1559464" cy="6106313"/>
          </a:xfrm>
          <a:prstGeom prst="rect">
            <a:avLst/>
          </a:prstGeom>
          <a:gradFill>
            <a:gsLst>
              <a:gs pos="0">
                <a:srgbClr val="A02B93">
                  <a:alpha val="76862"/>
                </a:srgbClr>
              </a:gs>
              <a:gs pos="57000">
                <a:srgbClr val="D86CCC">
                  <a:alpha val="0"/>
                </a:srgbClr>
              </a:gs>
              <a:gs pos="100000">
                <a:srgbClr val="D86CCC">
                  <a:alpha val="0"/>
                </a:srgbClr>
              </a:gs>
            </a:gsLst>
            <a:lin ang="11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0015441" y="-3760"/>
            <a:ext cx="2176557" cy="6857999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rgbClr val="E97132">
                  <a:alpha val="0"/>
                </a:srgbClr>
              </a:gs>
              <a:gs pos="100000">
                <a:srgbClr val="E97132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 flipH="1" rot="10800000">
            <a:off x="6096000" y="5502302"/>
            <a:ext cx="6106314" cy="1359456"/>
          </a:xfrm>
          <a:prstGeom prst="rect">
            <a:avLst/>
          </a:prstGeom>
          <a:gradFill>
            <a:gsLst>
              <a:gs pos="0">
                <a:srgbClr val="E97132">
                  <a:alpha val="89019"/>
                </a:srgbClr>
              </a:gs>
              <a:gs pos="38000">
                <a:srgbClr val="D86CCC">
                  <a:alpha val="0"/>
                </a:srgbClr>
              </a:gs>
              <a:gs pos="100000">
                <a:srgbClr val="D86CCC">
                  <a:alpha val="0"/>
                </a:srgbClr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 rot="10800000">
            <a:off x="9026892" y="2939627"/>
            <a:ext cx="3162908" cy="3914612"/>
          </a:xfrm>
          <a:prstGeom prst="rect">
            <a:avLst/>
          </a:prstGeom>
          <a:gradFill>
            <a:gsLst>
              <a:gs pos="0">
                <a:srgbClr val="D86CCC"/>
              </a:gs>
              <a:gs pos="51000">
                <a:srgbClr val="D86CCC">
                  <a:alpha val="0"/>
                </a:srgbClr>
              </a:gs>
              <a:gs pos="100000">
                <a:srgbClr val="D86CCC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>
            <p:ph type="title"/>
          </p:nvPr>
        </p:nvSpPr>
        <p:spPr>
          <a:xfrm>
            <a:off x="535488" y="-217"/>
            <a:ext cx="4504216" cy="793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tr-TR" sz="3700"/>
              <a:t>Methodology and Data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347598" y="781790"/>
            <a:ext cx="5955146" cy="4988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The Framework:</a:t>
            </a:r>
            <a:r>
              <a:rPr lang="tr-TR" sz="1800"/>
              <a:t> Developed in Python using the Pygame library for real-time visualization.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The Logic:</a:t>
            </a:r>
            <a:r>
              <a:rPr lang="tr-TR" sz="1800"/>
              <a:t> Implementing the A* algorithm:</a:t>
            </a:r>
            <a:br>
              <a:rPr lang="tr-TR" sz="1800"/>
            </a:br>
            <a:br>
              <a:rPr lang="tr-TR" sz="1800"/>
            </a:br>
            <a:r>
              <a:rPr lang="tr-TR" sz="1800"/>
              <a:t>                               </a:t>
            </a:r>
            <a:r>
              <a:rPr b="1" lang="tr-TR" sz="2400"/>
              <a:t> f(n) = g(n) + h(n)</a:t>
            </a:r>
            <a:endParaRPr b="1"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Data Handling:</a:t>
            </a:r>
            <a:r>
              <a:rPr lang="tr-TR" sz="1800"/>
              <a:t> </a:t>
            </a:r>
            <a:br>
              <a:rPr lang="tr-TR" sz="1800"/>
            </a:br>
            <a:r>
              <a:rPr b="1" lang="tr-TR" sz="1800"/>
              <a:t>Input:</a:t>
            </a:r>
            <a:r>
              <a:rPr lang="tr-TR" sz="1800"/>
              <a:t> Dynamic coordinate data from user mouse-clicks (Barriers).</a:t>
            </a:r>
            <a:br>
              <a:rPr lang="tr-TR" sz="1800"/>
            </a:br>
            <a:br>
              <a:rPr lang="tr-TR" sz="1800"/>
            </a:br>
            <a:r>
              <a:rPr b="1" lang="tr-TR" sz="1800"/>
              <a:t>Heuristic Comparison:</a:t>
            </a:r>
            <a:r>
              <a:rPr lang="tr-TR" sz="1800"/>
              <a:t> Real-time toggling between three mathematical models: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Manhattan:</a:t>
            </a:r>
            <a:endParaRPr sz="1800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Euclidean:</a:t>
            </a:r>
            <a:r>
              <a:rPr lang="tr-TR" sz="1800"/>
              <a:t> </a:t>
            </a:r>
            <a:endParaRPr sz="1800"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Octile:</a:t>
            </a:r>
            <a:r>
              <a:rPr lang="tr-TR" sz="1800"/>
              <a:t> 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tr-TR" sz="1800"/>
              <a:t>Evaluation Metrics:</a:t>
            </a:r>
            <a:r>
              <a:rPr lang="tr-TR" sz="1800"/>
              <a:t> Total path cost and the size of the "Explored Set".</a:t>
            </a:r>
            <a:endParaRPr sz="1800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29" name="Google Shape;129;p4"/>
          <p:cNvSpPr/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 rot="-5400000">
            <a:off x="8912417" y="1218531"/>
            <a:ext cx="2387600" cy="23876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821310" y="0"/>
            <a:ext cx="2315251" cy="1550992"/>
          </a:xfrm>
          <a:custGeom>
            <a:rect b="b" l="l" r="r" t="t"/>
            <a:pathLst>
              <a:path extrusionOk="0" h="1550992" w="2315251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4"/>
          <p:cNvCxnSpPr/>
          <p:nvPr/>
        </p:nvCxnSpPr>
        <p:spPr>
          <a:xfrm>
            <a:off x="11724638" y="1331572"/>
            <a:ext cx="0" cy="1597708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4"/>
          <p:cNvSpPr/>
          <p:nvPr/>
        </p:nvSpPr>
        <p:spPr>
          <a:xfrm>
            <a:off x="11005550" y="4112081"/>
            <a:ext cx="1186451" cy="1771650"/>
          </a:xfrm>
          <a:custGeom>
            <a:rect b="b" l="l" r="r" t="t"/>
            <a:pathLst>
              <a:path extrusionOk="0" h="1771650" w="1186451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 rot="-607105">
            <a:off x="6086940" y="4145122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821310" y="4962670"/>
            <a:ext cx="2643352" cy="1895331"/>
          </a:xfrm>
          <a:custGeom>
            <a:rect b="b" l="l" r="r" t="t"/>
            <a:pathLst>
              <a:path extrusionOk="0" h="1895331" w="2643352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8891" y="3975056"/>
            <a:ext cx="8763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958" y="4580481"/>
            <a:ext cx="12668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5036" y="5234248"/>
            <a:ext cx="38290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>
            <p:ph type="title"/>
          </p:nvPr>
        </p:nvSpPr>
        <p:spPr>
          <a:xfrm>
            <a:off x="966026" y="-725"/>
            <a:ext cx="108330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tr-TR" sz="4800"/>
              <a:t>Results &amp; Progress Timeline</a:t>
            </a:r>
            <a:endParaRPr/>
          </a:p>
        </p:txBody>
      </p:sp>
      <p:cxnSp>
        <p:nvCxnSpPr>
          <p:cNvPr id="145" name="Google Shape;145;p5"/>
          <p:cNvCxnSpPr/>
          <p:nvPr/>
        </p:nvCxnSpPr>
        <p:spPr>
          <a:xfrm>
            <a:off x="623622" y="381934"/>
            <a:ext cx="0" cy="6476066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146" name="Google Shape;146;p5"/>
          <p:cNvGrpSpPr/>
          <p:nvPr/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47" name="Google Shape;147;p5"/>
            <p:cNvSpPr/>
            <p:nvPr/>
          </p:nvSpPr>
          <p:spPr>
            <a:xfrm>
              <a:off x="6125948" y="740316"/>
              <a:ext cx="139039" cy="139039"/>
            </a:xfrm>
            <a:custGeom>
              <a:rect b="b" l="l" r="r" t="t"/>
              <a:pathLst>
                <a:path extrusionOk="0" h="139039" w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484728" y="969611"/>
              <a:ext cx="91138" cy="91138"/>
            </a:xfrm>
            <a:custGeom>
              <a:rect b="b" l="l" r="r" t="t"/>
              <a:pathLst>
                <a:path extrusionOk="0" h="91138" w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110408" y="1484755"/>
              <a:ext cx="127714" cy="127714"/>
            </a:xfrm>
            <a:custGeom>
              <a:rect b="b" l="l" r="r" t="t"/>
              <a:pathLst>
                <a:path extrusionOk="0" h="127714" w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966028" y="1171628"/>
            <a:ext cx="10283388" cy="5120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tr-TR" sz="1800">
                <a:solidFill>
                  <a:schemeClr val="dk1"/>
                </a:solidFill>
              </a:rPr>
              <a:t>Week 1: Theoretical Foundation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>
                <a:solidFill>
                  <a:schemeClr val="dk1"/>
                </a:solidFill>
              </a:rPr>
              <a:t>Conducted literature review on pathfinding; researched Manhattan, Euclidean, and Octile heuristic theories.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tr-TR" sz="1800">
                <a:solidFill>
                  <a:schemeClr val="dk1"/>
                </a:solidFill>
              </a:rPr>
              <a:t>Week 2: Baseline Development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>
                <a:solidFill>
                  <a:schemeClr val="dk1"/>
                </a:solidFill>
              </a:rPr>
              <a:t>Implemented BFS/DFS baseline algorithms to establish performance benchmarks for comparison.</a:t>
            </a:r>
            <a:endParaRPr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tr-TR" sz="1800">
                <a:solidFill>
                  <a:schemeClr val="dk1"/>
                </a:solidFill>
              </a:rPr>
              <a:t>Week 3: Core A Implementation*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>
                <a:solidFill>
                  <a:schemeClr val="dk1"/>
                </a:solidFill>
              </a:rPr>
              <a:t>Developed the primary A* logic and successfully produced a working pathfinding demo.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tr-TR" sz="1800">
                <a:solidFill>
                  <a:schemeClr val="dk1"/>
                </a:solidFill>
              </a:rPr>
              <a:t>Week 4: Optimization &amp; Scaling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>
                <a:solidFill>
                  <a:schemeClr val="dk1"/>
                </a:solidFill>
              </a:rPr>
              <a:t>Optimized heuristic math and tested the agent's efficiency across significantly larger, complex grid sizes.</a:t>
            </a:r>
            <a:endParaRPr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tr-TR" sz="1800">
                <a:solidFill>
                  <a:schemeClr val="dk1"/>
                </a:solidFill>
              </a:rPr>
              <a:t>Week 5: Advanced Visualization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>
                <a:solidFill>
                  <a:schemeClr val="dk1"/>
                </a:solidFill>
              </a:rPr>
              <a:t>Added real-time animations and search tree visualizations (Red/Green node tracking) to show the AI's "thought process."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tr-TR" sz="1800">
                <a:solidFill>
                  <a:schemeClr val="dk1"/>
                </a:solidFill>
              </a:rPr>
              <a:t>Week 6: </a:t>
            </a:r>
            <a:r>
              <a:rPr lang="tr-TR" sz="1800">
                <a:solidFill>
                  <a:schemeClr val="dk1"/>
                </a:solidFill>
              </a:rPr>
              <a:t>Dynamic Obstacles &amp; Replanning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tr-TR" sz="1800">
                <a:solidFill>
                  <a:schemeClr val="dk1"/>
                </a:solidFill>
              </a:rPr>
              <a:t>Current State:</a:t>
            </a:r>
            <a:r>
              <a:rPr lang="tr-TR" sz="1800">
                <a:solidFill>
                  <a:schemeClr val="dk1"/>
                </a:solidFill>
              </a:rPr>
              <a:t> Implemented a system that detects real-time barrier placement and triggers immediate path recalculation.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is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is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2026-04-12T14:41:20Z</dcterms:created>
</cp:coreProperties>
</file>