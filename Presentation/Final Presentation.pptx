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1FED1-2F29-AB41-74E0-42EA3C89EB83}" v="159" dt="2026-05-10T19:48:45.900"/>
    <p1510:client id="{80A4D1AE-389C-0E8E-C12D-471FC454D40F}" v="759" dt="2026-05-10T19:34:36.375"/>
    <p1510:client id="{CC64781B-8891-4900-8A3C-C244AFB255B2}" v="428" dt="2026-05-09T23:49:10.316"/>
    <p1510:client id="{F61D175B-661A-E30F-464F-87382F9FE403}" v="37" dt="2026-05-10T22:58:19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19:35:02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2480 8537 16383 0 0,'0'0'0'0'0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98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5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5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6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65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1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2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3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8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70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98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50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33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3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8649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3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14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customXml" Target="../ink/ink1.xml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jpe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xmlns="" id="{94961B61-03D2-49E9-BD4B-B3A93E5A2C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3">
            <a:extLst>
              <a:ext uri="{FF2B5EF4-FFF2-40B4-BE49-F238E27FC236}">
                <a16:creationId xmlns:a16="http://schemas.microsoft.com/office/drawing/2014/main" xmlns="" id="{F719563D-93CB-4148-9B1C-AB39FA117B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"/>
            <a:ext cx="12188825" cy="6856214"/>
          </a:xfrm>
          <a:prstGeom prst="rect">
            <a:avLst/>
          </a:prstGeom>
        </p:spPr>
      </p:pic>
      <p:pic>
        <p:nvPicPr>
          <p:cNvPr id="7" name="Resim 6" descr="A Picture Of A Maze Background Images, HD Pictures and Wallpaper For Free  Download | Pngtree">
            <a:extLst>
              <a:ext uri="{FF2B5EF4-FFF2-40B4-BE49-F238E27FC236}">
                <a16:creationId xmlns:a16="http://schemas.microsoft.com/office/drawing/2014/main" xmlns="" id="{21925C6A-8ECD-5698-490E-A345AFB0458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l="444"/>
          <a:stretch>
            <a:fillRect/>
          </a:stretch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19" name="Rectangle 15">
            <a:extLst>
              <a:ext uri="{FF2B5EF4-FFF2-40B4-BE49-F238E27FC236}">
                <a16:creationId xmlns:a16="http://schemas.microsoft.com/office/drawing/2014/main" xmlns="" id="{E8AF3458-709F-4682-8E3C-FA8FECC8EC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712912" y="2125133"/>
            <a:ext cx="8736013" cy="2607734"/>
          </a:xfrm>
          <a:prstGeom prst="rect">
            <a:avLst/>
          </a:prstGeom>
          <a:solidFill>
            <a:schemeClr val="bg1">
              <a:alpha val="35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>
              <a:solidFill>
                <a:schemeClr val="tx1"/>
              </a:solidFill>
            </a:endParaRPr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922991" y="2298700"/>
            <a:ext cx="8347076" cy="159595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tr-TR" sz="3700">
                <a:ea typeface="+mj-lt"/>
                <a:cs typeface="+mj-lt"/>
              </a:rPr>
              <a:t>A Shortest Path Fınder ın Mazes Usıng A Search and Heurıstıc Optımızatıon</a:t>
            </a:r>
            <a:endParaRPr lang="tr-TR" sz="3700">
              <a:ea typeface="Calibri Light"/>
              <a:cs typeface="Calibri Light"/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918758" y="3894653"/>
            <a:ext cx="8355542" cy="66464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tr-TR">
                <a:ea typeface="+mn-lt"/>
                <a:cs typeface="+mn-lt"/>
              </a:rPr>
              <a:t>Introductıon to Artıfıcıal Intellıgence  - Group 2</a:t>
            </a:r>
            <a:endParaRPr lang="tr-TR">
              <a:ea typeface="Calibri"/>
              <a:cs typeface="Calibri"/>
            </a:endParaRPr>
          </a:p>
          <a:p>
            <a:pPr algn="ctr"/>
            <a:endParaRPr lang="tr-TR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273A864F-4496-4FDB-F125-474A4EC8F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>
                <a:ea typeface="+mj-lt"/>
                <a:cs typeface="+mj-lt"/>
              </a:rPr>
              <a:t>A Shortest Path FInder In Mazes Using A Search and Heuristic OptImIzatIon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5966F690-5377-F4A5-5696-BD686CADF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154905"/>
            <a:ext cx="6593075" cy="4413971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lnSpc>
                <a:spcPct val="90000"/>
              </a:lnSpc>
            </a:pPr>
            <a:r>
              <a:rPr lang="tr-TR" sz="1500" b="1"/>
              <a:t>Motivation</a:t>
            </a:r>
            <a:r>
              <a:rPr lang="tr-TR" sz="1500"/>
              <a:t>: As</a:t>
            </a:r>
            <a:r>
              <a:rPr lang="tr-TR" sz="1500">
                <a:ea typeface="+mn-lt"/>
                <a:cs typeface="+mn-lt"/>
              </a:rPr>
              <a:t> autonomous systems become more common in robotics, autonomous vehicles, and intelligent navigation systems, efficient pathfinding has become a critical problem.</a:t>
            </a:r>
            <a:br>
              <a:rPr lang="tr-TR" sz="1500">
                <a:ea typeface="+mn-lt"/>
                <a:cs typeface="+mn-lt"/>
              </a:rPr>
            </a:br>
            <a:r>
              <a:rPr lang="tr-TR" sz="1500">
                <a:ea typeface="+mn-lt"/>
                <a:cs typeface="+mn-lt"/>
              </a:rPr>
              <a:t> Finding a valid path is no longer enough; modern systems must find the best possible path while reacting quickly to environmental changes.</a:t>
            </a:r>
            <a:endParaRPr lang="tr-TR" sz="1500"/>
          </a:p>
          <a:p>
            <a:pPr marL="0" indent="0">
              <a:lnSpc>
                <a:spcPct val="90000"/>
              </a:lnSpc>
              <a:buNone/>
            </a:pPr>
            <a:r>
              <a:rPr lang="tr-TR" sz="1500">
                <a:ea typeface="+mn-lt"/>
                <a:cs typeface="+mn-lt"/>
              </a:rPr>
              <a:t>  Traditional uninformed search methods such as BFS and DFS become computationally expensive in large grid environments. This project focuses on improving pathfinding efficiency using the A* algorithm together with different heuristic functions.</a:t>
            </a:r>
            <a:endParaRPr lang="tr-TR" sz="1500"/>
          </a:p>
          <a:p>
            <a:pPr marL="457200" indent="-457200">
              <a:lnSpc>
                <a:spcPct val="90000"/>
              </a:lnSpc>
            </a:pPr>
            <a:r>
              <a:rPr lang="tr-TR" sz="1500" b="1"/>
              <a:t>  Project Objective: </a:t>
            </a:r>
            <a:r>
              <a:rPr lang="tr-TR" sz="1500"/>
              <a:t>The</a:t>
            </a:r>
            <a:r>
              <a:rPr lang="tr-TR" sz="1500">
                <a:ea typeface="+mn-lt"/>
                <a:cs typeface="+mn-lt"/>
              </a:rPr>
              <a:t> main objective of this project is to develop a shortest path finder for grid-based maze environments and compare the performance of: BFS, DFS, A* with Manhattan heuristic, A* with Euclidean heuristic, A* with Octile heuristic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tr-TR" sz="1500">
                <a:ea typeface="+mn-lt"/>
                <a:cs typeface="+mn-lt"/>
              </a:rPr>
              <a:t> The system evaluates runtime, explored nodes, path cost, and scalability while also supporting real-time visualization and dynamic obstacle replanning.</a:t>
            </a:r>
            <a:endParaRPr lang="tr-TR" sz="1500"/>
          </a:p>
          <a:p>
            <a:pPr marL="457200" indent="-457200">
              <a:lnSpc>
                <a:spcPct val="90000"/>
              </a:lnSpc>
            </a:pPr>
            <a:endParaRPr lang="tr-TR" sz="1500"/>
          </a:p>
          <a:p>
            <a:pPr>
              <a:lnSpc>
                <a:spcPct val="90000"/>
              </a:lnSpc>
            </a:pPr>
            <a:endParaRPr lang="tr-TR" sz="15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Mürekkep 10">
                <a:extLst>
                  <a:ext uri="{FF2B5EF4-FFF2-40B4-BE49-F238E27FC236}">
                    <a16:creationId xmlns:a16="http://schemas.microsoft.com/office/drawing/2014/main" xmlns="" id="{26BFE84B-A8F7-ED12-CF7E-4637F6966602}"/>
                  </a:ext>
                </a:extLst>
              </p14:cNvPr>
              <p14:cNvContentPartPr/>
              <p14:nvPr/>
            </p14:nvContentPartPr>
            <p14:xfrm>
              <a:off x="1972108" y="1385455"/>
              <a:ext cx="32471" cy="32471"/>
            </p14:xfrm>
          </p:contentPart>
        </mc:Choice>
        <mc:Fallback xmlns="">
          <p:pic>
            <p:nvPicPr>
              <p:cNvPr id="11" name="Mürekkep 10">
                <a:extLst>
                  <a:ext uri="{FF2B5EF4-FFF2-40B4-BE49-F238E27FC236}">
                    <a16:creationId xmlns:a16="http://schemas.microsoft.com/office/drawing/2014/main" id="{26BFE84B-A8F7-ED12-CF7E-4637F69666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8558" y="-238095"/>
                <a:ext cx="3247100" cy="32471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Resim 11" descr="Autonomous car icon on white smart vehicle vector | Premium Vector">
            <a:extLst>
              <a:ext uri="{FF2B5EF4-FFF2-40B4-BE49-F238E27FC236}">
                <a16:creationId xmlns:a16="http://schemas.microsoft.com/office/drawing/2014/main" xmlns="" id="{EC652B1C-5C02-2DA1-675C-30830B55A1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978" t="13558" r="13990" b="12698"/>
          <a:stretch>
            <a:fillRect/>
          </a:stretch>
        </p:blipFill>
        <p:spPr>
          <a:xfrm>
            <a:off x="314083" y="632848"/>
            <a:ext cx="1972311" cy="2010647"/>
          </a:xfrm>
          <a:prstGeom prst="rect">
            <a:avLst/>
          </a:prstGeom>
        </p:spPr>
      </p:pic>
      <p:pic>
        <p:nvPicPr>
          <p:cNvPr id="18" name="Grafik 17" descr="İşaretleyici düz dolguyla">
            <a:extLst>
              <a:ext uri="{FF2B5EF4-FFF2-40B4-BE49-F238E27FC236}">
                <a16:creationId xmlns:a16="http://schemas.microsoft.com/office/drawing/2014/main" xmlns="" id="{BB7B3B6E-0E6C-F74B-1D8D-1F5D4AC3A8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2835215" y="1260894"/>
            <a:ext cx="1302588" cy="1374475"/>
          </a:xfrm>
          <a:prstGeom prst="rect">
            <a:avLst/>
          </a:prstGeom>
        </p:spPr>
      </p:pic>
      <p:cxnSp>
        <p:nvCxnSpPr>
          <p:cNvPr id="19" name="Bağlayıcı: Eğri 18">
            <a:extLst>
              <a:ext uri="{FF2B5EF4-FFF2-40B4-BE49-F238E27FC236}">
                <a16:creationId xmlns:a16="http://schemas.microsoft.com/office/drawing/2014/main" xmlns="" id="{C40EB45A-7889-1154-5397-DA600F2FEE1D}"/>
              </a:ext>
            </a:extLst>
          </p:cNvPr>
          <p:cNvCxnSpPr/>
          <p:nvPr/>
        </p:nvCxnSpPr>
        <p:spPr>
          <a:xfrm flipH="1">
            <a:off x="1504233" y="2597631"/>
            <a:ext cx="2013657" cy="1359073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 descr="İşaretleyici düz dolguyla">
            <a:extLst>
              <a:ext uri="{FF2B5EF4-FFF2-40B4-BE49-F238E27FC236}">
                <a16:creationId xmlns:a16="http://schemas.microsoft.com/office/drawing/2014/main" xmlns="" id="{169CF464-9376-1FBE-B848-FB12DE6E9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49856" y="2741761"/>
            <a:ext cx="1302588" cy="1374475"/>
          </a:xfrm>
          <a:prstGeom prst="rect">
            <a:avLst/>
          </a:prstGeom>
        </p:spPr>
      </p:pic>
      <p:pic>
        <p:nvPicPr>
          <p:cNvPr id="21" name="Grafik 20" descr="Robot düz dolguyla">
            <a:extLst>
              <a:ext uri="{FF2B5EF4-FFF2-40B4-BE49-F238E27FC236}">
                <a16:creationId xmlns:a16="http://schemas.microsoft.com/office/drawing/2014/main" xmlns="" id="{8F808557-9330-BFF3-0676-5E4114037F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180273" y="3273724"/>
            <a:ext cx="1302587" cy="1187569"/>
          </a:xfrm>
          <a:prstGeom prst="rect">
            <a:avLst/>
          </a:prstGeom>
        </p:spPr>
      </p:pic>
      <p:pic>
        <p:nvPicPr>
          <p:cNvPr id="22" name="Grafik 21" descr="Çizgi ok: Saat yönünün tersine eğri düz dolguyla">
            <a:extLst>
              <a:ext uri="{FF2B5EF4-FFF2-40B4-BE49-F238E27FC236}">
                <a16:creationId xmlns:a16="http://schemas.microsoft.com/office/drawing/2014/main" xmlns="" id="{0DA3F4B1-1193-648B-A406-F9D8E3D95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 rot="8280000">
            <a:off x="3022120" y="3992592"/>
            <a:ext cx="914400" cy="914400"/>
          </a:xfrm>
          <a:prstGeom prst="rect">
            <a:avLst/>
          </a:prstGeom>
        </p:spPr>
      </p:pic>
      <p:pic>
        <p:nvPicPr>
          <p:cNvPr id="23" name="Grafik 22" descr="Çizgi ok: Sola döndür düz dolguyla">
            <a:extLst>
              <a:ext uri="{FF2B5EF4-FFF2-40B4-BE49-F238E27FC236}">
                <a16:creationId xmlns:a16="http://schemas.microsoft.com/office/drawing/2014/main" xmlns="" id="{2C4FC597-458E-72B2-ED64-3F58B74B3F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 rot="-3780000">
            <a:off x="2762429" y="3028410"/>
            <a:ext cx="914400" cy="914400"/>
          </a:xfrm>
          <a:prstGeom prst="rect">
            <a:avLst/>
          </a:prstGeom>
        </p:spPr>
      </p:pic>
      <p:sp>
        <p:nvSpPr>
          <p:cNvPr id="24" name="Dikdörtgen 23" descr="KEY CONTRIBUTIONS&#10; A* implementation&#10; Heuristic comparison&#10; Dynamic replanning&#10; Real-time visualization&#10; Interactive benchmarking">
            <a:extLst>
              <a:ext uri="{FF2B5EF4-FFF2-40B4-BE49-F238E27FC236}">
                <a16:creationId xmlns:a16="http://schemas.microsoft.com/office/drawing/2014/main" xmlns="" id="{B0870D0D-310F-52A7-BBA7-ED3321DBA68D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80022" y="5092846"/>
            <a:ext cx="4462905" cy="162397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>
                <a:ea typeface="+mn-lt"/>
                <a:cs typeface="+mn-lt"/>
              </a:rPr>
              <a:t>KEY CONTRIBUTIONS</a:t>
            </a:r>
            <a:r>
              <a:rPr lang="tr-TR"/>
              <a:t> :</a:t>
            </a:r>
          </a:p>
          <a:p>
            <a:r>
              <a:rPr lang="tr-TR"/>
              <a:t>A* implementation - Heuristic comparison - Dynamic replanning - Real-time visualization - Interactive benchmarking</a:t>
            </a:r>
            <a:endParaRPr lang="tr-TR">
              <a:ea typeface="Calibri"/>
              <a:cs typeface="Calibri"/>
            </a:endParaRPr>
          </a:p>
        </p:txBody>
      </p:sp>
      <p:pic>
        <p:nvPicPr>
          <p:cNvPr id="25" name="Resim 24" descr="metin, diyagram, çizgi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xmlns="" id="{8DA649A3-5319-98E3-F50A-6E2EB3E03A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9" y="373451"/>
            <a:ext cx="4829715" cy="452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8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D6B43C78-7EE2-394C-7794-89657B21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46" y="-4882"/>
            <a:ext cx="4785744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300">
                <a:ea typeface="+mj-lt"/>
                <a:cs typeface="+mj-lt"/>
              </a:rPr>
              <a:t>Implementatıon &amp; Features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F7958315-B9B8-3159-4AA4-B6F846C28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85" y="1015634"/>
            <a:ext cx="3915251" cy="3982570"/>
          </a:xfrm>
          <a:solidFill>
            <a:schemeClr val="bg2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tr-TR" sz="2000"/>
              <a:t>Implementation Features</a:t>
            </a:r>
            <a:endParaRPr lang="tr-TR" sz="200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tr-TR" sz="1400">
                <a:ea typeface="+mn-lt"/>
                <a:cs typeface="+mn-lt"/>
              </a:rPr>
              <a:t>• Interactive Pygame-based GUI for real-time visualization</a:t>
            </a:r>
            <a:endParaRPr lang="tr-TR" sz="140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tr-TR" sz="1400">
                <a:ea typeface="+mn-lt"/>
                <a:cs typeface="+mn-lt"/>
              </a:rPr>
              <a:t>• Real-time heuristic switching between Manhattan, Euclidean, and Octile modes</a:t>
            </a:r>
            <a:endParaRPr lang="tr-TR" sz="140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tr-TR" sz="1400">
                <a:ea typeface="+mn-lt"/>
                <a:cs typeface="+mn-lt"/>
              </a:rPr>
              <a:t>• Dynamic obstacle insertion and automatic path recalculation</a:t>
            </a:r>
            <a:endParaRPr lang="tr-TR" sz="140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tr-TR" sz="1400">
                <a:ea typeface="+mn-lt"/>
                <a:cs typeface="+mn-lt"/>
              </a:rPr>
              <a:t>• Live node exploration tracking and shortest path rendering</a:t>
            </a:r>
            <a:endParaRPr lang="tr-TR" sz="140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tr-TR" sz="1400">
                <a:ea typeface="+mn-lt"/>
                <a:cs typeface="+mn-lt"/>
              </a:rPr>
              <a:t>• Integrated benchmarking system for runtime and node comparison</a:t>
            </a:r>
            <a:endParaRPr lang="tr-TR" sz="140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tr-TR" sz="1400">
                <a:ea typeface="+mn-lt"/>
                <a:cs typeface="+mn-lt"/>
              </a:rPr>
              <a:t>• Interactive maze generation and reset system</a:t>
            </a:r>
            <a:endParaRPr lang="tr-TR" sz="1400">
              <a:ea typeface="Calibri"/>
              <a:cs typeface="Calibri"/>
            </a:endParaRPr>
          </a:p>
        </p:txBody>
      </p:sp>
      <p:pic>
        <p:nvPicPr>
          <p:cNvPr id="35" name="Resim 34" descr="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xmlns="" id="{9600E4C9-FA01-876D-0B8F-F0C2CA445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678" y="411854"/>
            <a:ext cx="2457122" cy="3012038"/>
          </a:xfrm>
          <a:prstGeom prst="roundRect">
            <a:avLst>
              <a:gd name="adj" fmla="val 730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Resim 33" descr="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xmlns="" id="{6410248A-B43A-BE9B-147E-5A38D4AB9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023" y="411854"/>
            <a:ext cx="2444186" cy="3012037"/>
          </a:xfrm>
          <a:prstGeom prst="roundRect">
            <a:avLst>
              <a:gd name="adj" fmla="val 730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6" name="Resim 35" descr="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xmlns="" id="{272C3D61-3EC8-F0E6-184B-7813A41A1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9304" y="3561894"/>
            <a:ext cx="2450323" cy="3023055"/>
          </a:xfrm>
          <a:prstGeom prst="roundRect">
            <a:avLst>
              <a:gd name="adj" fmla="val 7306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7" name="Açıklama Balonu: Aşağı Ok 36">
            <a:extLst>
              <a:ext uri="{FF2B5EF4-FFF2-40B4-BE49-F238E27FC236}">
                <a16:creationId xmlns:a16="http://schemas.microsoft.com/office/drawing/2014/main" xmlns="" id="{4520AE6C-4A19-090C-7F70-66C19FFC2587}"/>
              </a:ext>
            </a:extLst>
          </p:cNvPr>
          <p:cNvSpPr/>
          <p:nvPr/>
        </p:nvSpPr>
        <p:spPr>
          <a:xfrm>
            <a:off x="6782017" y="3598969"/>
            <a:ext cx="2176494" cy="517320"/>
          </a:xfrm>
          <a:prstGeom prst="down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b="1">
                <a:solidFill>
                  <a:srgbClr val="18276C"/>
                </a:solidFill>
                <a:ea typeface="+mn-lt"/>
                <a:cs typeface="+mn-lt"/>
              </a:rPr>
              <a:t>Generate Maze</a:t>
            </a:r>
          </a:p>
        </p:txBody>
      </p:sp>
      <p:sp>
        <p:nvSpPr>
          <p:cNvPr id="38" name="Açıklama Balonu: Aşağı Ok 37">
            <a:extLst>
              <a:ext uri="{FF2B5EF4-FFF2-40B4-BE49-F238E27FC236}">
                <a16:creationId xmlns:a16="http://schemas.microsoft.com/office/drawing/2014/main" xmlns="" id="{0F9D178B-C70A-27F4-70CD-35D5747FAA49}"/>
              </a:ext>
            </a:extLst>
          </p:cNvPr>
          <p:cNvSpPr/>
          <p:nvPr/>
        </p:nvSpPr>
        <p:spPr>
          <a:xfrm>
            <a:off x="6755512" y="4119778"/>
            <a:ext cx="2228177" cy="584906"/>
          </a:xfrm>
          <a:prstGeom prst="down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b="1">
                <a:solidFill>
                  <a:srgbClr val="18276C"/>
                </a:solidFill>
                <a:ea typeface="+mn-lt"/>
                <a:cs typeface="+mn-lt"/>
              </a:rPr>
              <a:t>Select Herustic</a:t>
            </a:r>
          </a:p>
        </p:txBody>
      </p:sp>
      <p:sp>
        <p:nvSpPr>
          <p:cNvPr id="39" name="Açıklama Balonu: Aşağı Ok 38">
            <a:extLst>
              <a:ext uri="{FF2B5EF4-FFF2-40B4-BE49-F238E27FC236}">
                <a16:creationId xmlns:a16="http://schemas.microsoft.com/office/drawing/2014/main" xmlns="" id="{83F4FC5F-E57D-4852-D58D-36FDC178B669}"/>
              </a:ext>
            </a:extLst>
          </p:cNvPr>
          <p:cNvSpPr/>
          <p:nvPr/>
        </p:nvSpPr>
        <p:spPr>
          <a:xfrm>
            <a:off x="6757279" y="4704641"/>
            <a:ext cx="2259541" cy="535873"/>
          </a:xfrm>
          <a:prstGeom prst="down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b="1">
                <a:solidFill>
                  <a:srgbClr val="18276C"/>
                </a:solidFill>
                <a:ea typeface="+mn-lt"/>
                <a:cs typeface="+mn-lt"/>
              </a:rPr>
              <a:t>Run A*</a:t>
            </a:r>
          </a:p>
        </p:txBody>
      </p:sp>
      <p:sp>
        <p:nvSpPr>
          <p:cNvPr id="40" name="Açıklama Balonu: Aşağı Ok 39">
            <a:extLst>
              <a:ext uri="{FF2B5EF4-FFF2-40B4-BE49-F238E27FC236}">
                <a16:creationId xmlns:a16="http://schemas.microsoft.com/office/drawing/2014/main" xmlns="" id="{C1FEACCE-8547-0D18-0165-49E9F3CEF4E1}"/>
              </a:ext>
            </a:extLst>
          </p:cNvPr>
          <p:cNvSpPr/>
          <p:nvPr/>
        </p:nvSpPr>
        <p:spPr>
          <a:xfrm>
            <a:off x="6725032" y="5791760"/>
            <a:ext cx="2290904" cy="540291"/>
          </a:xfrm>
          <a:prstGeom prst="down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b="1">
                <a:solidFill>
                  <a:srgbClr val="18276C"/>
                </a:solidFill>
                <a:ea typeface="+mn-lt"/>
                <a:cs typeface="+mn-lt"/>
              </a:rPr>
              <a:t>Find Optimal Path</a:t>
            </a:r>
          </a:p>
        </p:txBody>
      </p:sp>
      <p:sp>
        <p:nvSpPr>
          <p:cNvPr id="42" name="Açıklama Balonu: Aşağı Ok 41">
            <a:extLst>
              <a:ext uri="{FF2B5EF4-FFF2-40B4-BE49-F238E27FC236}">
                <a16:creationId xmlns:a16="http://schemas.microsoft.com/office/drawing/2014/main" xmlns="" id="{E88D7B7F-7D42-74D6-635F-4AC15F44B59F}"/>
              </a:ext>
            </a:extLst>
          </p:cNvPr>
          <p:cNvSpPr/>
          <p:nvPr/>
        </p:nvSpPr>
        <p:spPr>
          <a:xfrm>
            <a:off x="6745351" y="5244004"/>
            <a:ext cx="2259541" cy="546916"/>
          </a:xfrm>
          <a:prstGeom prst="downArrowCallou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b="1">
                <a:solidFill>
                  <a:srgbClr val="18276C"/>
                </a:solidFill>
                <a:ea typeface="+mn-lt"/>
                <a:cs typeface="+mn-lt"/>
              </a:rPr>
              <a:t>Explore Nodes</a:t>
            </a: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xmlns="" id="{DD11C47F-CCEC-A43C-9874-E9CEC72076F5}"/>
              </a:ext>
            </a:extLst>
          </p:cNvPr>
          <p:cNvSpPr/>
          <p:nvPr/>
        </p:nvSpPr>
        <p:spPr>
          <a:xfrm>
            <a:off x="6711193" y="6329968"/>
            <a:ext cx="2287099" cy="3909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b="1">
                <a:solidFill>
                  <a:srgbClr val="18276C"/>
                </a:solidFill>
                <a:ea typeface="+mn-lt"/>
                <a:cs typeface="+mn-lt"/>
              </a:rPr>
              <a:t>Visualize Results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xmlns="" id="{4939129C-9378-AD34-3674-83C11D65D925}"/>
              </a:ext>
            </a:extLst>
          </p:cNvPr>
          <p:cNvSpPr txBox="1"/>
          <p:nvPr/>
        </p:nvSpPr>
        <p:spPr>
          <a:xfrm>
            <a:off x="4130423" y="3182712"/>
            <a:ext cx="2588157" cy="181588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/>
              <a:t>Visualization Logic</a:t>
            </a:r>
            <a:endParaRPr lang="tr-TR" sz="1600">
              <a:ea typeface="Calibri"/>
              <a:cs typeface="Calibri"/>
            </a:endParaRPr>
          </a:p>
          <a:p>
            <a:r>
              <a:rPr lang="tr-TR" sz="1600">
                <a:ea typeface="+mn-lt"/>
                <a:cs typeface="+mn-lt"/>
              </a:rPr>
              <a:t>• Green → Frontier nodes</a:t>
            </a:r>
            <a:endParaRPr lang="tr-TR" sz="1600">
              <a:ea typeface="Calibri"/>
              <a:cs typeface="Calibri"/>
            </a:endParaRPr>
          </a:p>
          <a:p>
            <a:r>
              <a:rPr lang="tr-TR" sz="1600">
                <a:ea typeface="+mn-lt"/>
                <a:cs typeface="+mn-lt"/>
              </a:rPr>
              <a:t>• Red → Explored nodes</a:t>
            </a:r>
            <a:endParaRPr lang="tr-TR" sz="1600">
              <a:ea typeface="Calibri"/>
              <a:cs typeface="Calibri"/>
            </a:endParaRPr>
          </a:p>
          <a:p>
            <a:r>
              <a:rPr lang="tr-TR" sz="1600">
                <a:ea typeface="+mn-lt"/>
                <a:cs typeface="+mn-lt"/>
              </a:rPr>
              <a:t>• Blue → Final shortest path</a:t>
            </a:r>
            <a:endParaRPr lang="tr-TR" sz="1600">
              <a:ea typeface="Calibri"/>
              <a:cs typeface="Calibri"/>
            </a:endParaRPr>
          </a:p>
          <a:p>
            <a:r>
              <a:rPr lang="tr-TR" sz="1600">
                <a:ea typeface="+mn-lt"/>
                <a:cs typeface="+mn-lt"/>
              </a:rPr>
              <a:t>• Black → Obstacles-walls</a:t>
            </a:r>
            <a:endParaRPr lang="tr-TR" sz="1600">
              <a:ea typeface="Calibri"/>
              <a:cs typeface="Calibri"/>
            </a:endParaRPr>
          </a:p>
          <a:p>
            <a:r>
              <a:rPr lang="tr-TR" sz="1600">
                <a:ea typeface="+mn-lt"/>
                <a:cs typeface="+mn-lt"/>
              </a:rPr>
              <a:t>• Orange → Start node</a:t>
            </a:r>
            <a:endParaRPr lang="tr-TR" sz="1600">
              <a:ea typeface="Calibri"/>
              <a:cs typeface="Calibri"/>
            </a:endParaRPr>
          </a:p>
          <a:p>
            <a:r>
              <a:rPr lang="tr-TR" sz="1600">
                <a:ea typeface="+mn-lt"/>
                <a:cs typeface="+mn-lt"/>
              </a:rPr>
              <a:t>• Purple → Goal node</a:t>
            </a:r>
            <a:endParaRPr lang="tr-TR" sz="1600">
              <a:ea typeface="Calibri"/>
              <a:cs typeface="Calibri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xmlns="" id="{C2D39053-4115-88E2-BC41-6300BA7A6134}"/>
              </a:ext>
            </a:extLst>
          </p:cNvPr>
          <p:cNvSpPr txBox="1"/>
          <p:nvPr/>
        </p:nvSpPr>
        <p:spPr>
          <a:xfrm>
            <a:off x="4126769" y="1017826"/>
            <a:ext cx="2582626" cy="206210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/>
              <a:t>Dynamic Environment Support</a:t>
            </a:r>
            <a:endParaRPr lang="tr-TR" sz="1600">
              <a:ea typeface="Calibri"/>
              <a:cs typeface="Calibri"/>
            </a:endParaRPr>
          </a:p>
          <a:p>
            <a:r>
              <a:rPr lang="tr-TR" sz="1600">
                <a:ea typeface="+mn-lt"/>
                <a:cs typeface="+mn-lt"/>
              </a:rPr>
              <a:t>The system automatically recalculates the optimal route when a newly inserted obstacle blocks the current path.</a:t>
            </a:r>
            <a:endParaRPr lang="tr-TR" sz="1600">
              <a:ea typeface="Calibri"/>
              <a:cs typeface="Calibri"/>
            </a:endParaRPr>
          </a:p>
          <a:p>
            <a:pPr algn="l"/>
            <a:endParaRPr lang="tr-TR" sz="1600">
              <a:ea typeface="Calibri"/>
              <a:cs typeface="Calibri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xmlns="" id="{650801F3-83A9-2B6D-957B-3D227B8D9911}"/>
              </a:ext>
            </a:extLst>
          </p:cNvPr>
          <p:cNvSpPr txBox="1"/>
          <p:nvPr/>
        </p:nvSpPr>
        <p:spPr>
          <a:xfrm>
            <a:off x="133479" y="5284134"/>
            <a:ext cx="6575607" cy="132343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600"/>
              <a:t>Real-Time Benchmarking</a:t>
            </a:r>
            <a:endParaRPr lang="tr-TR" sz="1600">
              <a:ea typeface="Calibri"/>
              <a:cs typeface="Calibri"/>
            </a:endParaRPr>
          </a:p>
          <a:p>
            <a:r>
              <a:rPr lang="tr-TR" sz="1600">
                <a:ea typeface="+mn-lt"/>
                <a:cs typeface="+mn-lt"/>
              </a:rPr>
              <a:t>The GUI continuously records: Runtime performance, Number of explored nodes, Path length, Path cost</a:t>
            </a:r>
          </a:p>
          <a:p>
            <a:r>
              <a:rPr lang="tr-TR" sz="1600">
                <a:ea typeface="+mn-lt"/>
                <a:cs typeface="+mn-lt"/>
              </a:rPr>
              <a:t>This allows direct comparison between different heuristic strategies under the same maze conditions.</a:t>
            </a:r>
          </a:p>
        </p:txBody>
      </p:sp>
    </p:spTree>
    <p:extLst>
      <p:ext uri="{BB962C8B-B14F-4D97-AF65-F5344CB8AC3E}">
        <p14:creationId xmlns:p14="http://schemas.microsoft.com/office/powerpoint/2010/main" val="30928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E87D44FC-3F41-B773-9AD7-BE347EF4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669" y="411853"/>
            <a:ext cx="4099947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300">
                <a:ea typeface="+mj-lt"/>
                <a:cs typeface="+mj-lt"/>
              </a:rPr>
              <a:t>METHODOLOGY AND DATA</a:t>
            </a:r>
            <a:endParaRPr lang="tr-TR" sz="3300"/>
          </a:p>
        </p:txBody>
      </p:sp>
      <p:pic>
        <p:nvPicPr>
          <p:cNvPr id="5" name="Resim 4" descr="metin, diyagram, ekran görüntüsü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xmlns="" id="{63C8F521-158E-A2D7-A7BD-404B08422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71" y="193400"/>
            <a:ext cx="3542662" cy="2692424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Resim 3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xmlns="" id="{F3C711DE-D620-0FE4-524B-7743FDBD1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2" y="3432672"/>
            <a:ext cx="5056557" cy="2440606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BC4F5757-3903-0077-20D7-3F889AC0F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800" y="1534676"/>
            <a:ext cx="6065686" cy="521730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457200">
              <a:lnSpc>
                <a:spcPct val="90000"/>
              </a:lnSpc>
            </a:pPr>
            <a:r>
              <a:rPr lang="tr-TR" sz="1200" b="1"/>
              <a:t>Methodology and System Design</a:t>
            </a:r>
            <a:endParaRPr lang="tr-TR" sz="12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tr-TR" sz="1200" b="1"/>
              <a:t> Development Environment: </a:t>
            </a:r>
            <a:r>
              <a:rPr lang="tr-TR" sz="1200"/>
              <a:t>The</a:t>
            </a:r>
            <a:r>
              <a:rPr lang="tr-TR" sz="1200">
                <a:ea typeface="+mn-lt"/>
                <a:cs typeface="+mn-lt"/>
              </a:rPr>
              <a:t> project was implemented in: Python, NumPy, Pygame, heapq / deque structures.</a:t>
            </a:r>
            <a:endParaRPr lang="tr-TR" sz="12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tr-TR" sz="1200" b="1"/>
              <a:t>Core Algorithm: </a:t>
            </a:r>
            <a:r>
              <a:rPr lang="tr-TR" sz="1200"/>
              <a:t>The</a:t>
            </a:r>
            <a:r>
              <a:rPr lang="tr-TR" sz="1200">
                <a:ea typeface="+mn-lt"/>
                <a:cs typeface="+mn-lt"/>
              </a:rPr>
              <a:t> main search logic is based on the A* algorithm:</a:t>
            </a:r>
            <a:endParaRPr lang="tr-TR" sz="12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tr-TR" sz="1200">
                <a:ea typeface="+mn-lt"/>
                <a:cs typeface="+mn-lt"/>
              </a:rPr>
              <a:t>f(n)=g(n)+h(n)</a:t>
            </a:r>
            <a:endParaRPr lang="tr-TR" sz="12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tr-TR" sz="1200">
                <a:ea typeface="+mn-lt"/>
                <a:cs typeface="+mn-lt"/>
              </a:rPr>
              <a:t> Where: </a:t>
            </a:r>
            <a:r>
              <a:rPr lang="tr-TR" sz="1200" b="1">
                <a:ea typeface="+mn-lt"/>
                <a:cs typeface="+mn-lt"/>
              </a:rPr>
              <a:t>g(n)</a:t>
            </a:r>
            <a:r>
              <a:rPr lang="tr-TR" sz="1200">
                <a:ea typeface="+mn-lt"/>
                <a:cs typeface="+mn-lt"/>
              </a:rPr>
              <a:t> represents the movement cost from the start node, </a:t>
            </a:r>
            <a:r>
              <a:rPr lang="tr-TR" sz="1200" b="1">
                <a:ea typeface="+mn-lt"/>
                <a:cs typeface="+mn-lt"/>
              </a:rPr>
              <a:t>h(n)</a:t>
            </a:r>
            <a:r>
              <a:rPr lang="tr-TR" sz="1200">
                <a:ea typeface="+mn-lt"/>
                <a:cs typeface="+mn-lt"/>
              </a:rPr>
              <a:t> represents the heuristic estimation to the goal.</a:t>
            </a:r>
            <a:endParaRPr lang="tr-TR" sz="1200">
              <a:ea typeface="Calibri"/>
              <a:cs typeface="Calibri"/>
            </a:endParaRPr>
          </a:p>
          <a:p>
            <a:pPr marL="457200" indent="-457200">
              <a:lnSpc>
                <a:spcPct val="90000"/>
              </a:lnSpc>
            </a:pPr>
            <a:r>
              <a:rPr lang="tr-TR" sz="1200" b="1"/>
              <a:t>Heuristic Functions Compared</a:t>
            </a:r>
            <a:endParaRPr lang="tr-TR" sz="1200" b="1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tr-TR" sz="1200"/>
              <a:t>  Manhattan Distance: Best</a:t>
            </a:r>
            <a:r>
              <a:rPr lang="tr-TR" sz="1200">
                <a:ea typeface="+mn-lt"/>
                <a:cs typeface="+mn-lt"/>
              </a:rPr>
              <a:t> suited for 4-directional movement.</a:t>
            </a:r>
            <a:endParaRPr lang="tr-TR" sz="12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tr-TR" sz="1200"/>
              <a:t>  Euclidean Distance: Uses</a:t>
            </a:r>
            <a:r>
              <a:rPr lang="tr-TR" sz="1200">
                <a:ea typeface="+mn-lt"/>
                <a:cs typeface="+mn-lt"/>
              </a:rPr>
              <a:t> straight-line distance estimation.</a:t>
            </a:r>
            <a:endParaRPr lang="tr-TR" sz="12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tr-TR" sz="1200"/>
              <a:t>  Octile Distance: Designed</a:t>
            </a:r>
            <a:r>
              <a:rPr lang="tr-TR" sz="1200">
                <a:ea typeface="+mn-lt"/>
                <a:cs typeface="+mn-lt"/>
              </a:rPr>
              <a:t> specifically for 8-directional movement and diagonal traversal.</a:t>
            </a:r>
            <a:endParaRPr lang="tr-TR" sz="1200">
              <a:ea typeface="Calibri"/>
              <a:cs typeface="Calibri"/>
            </a:endParaRPr>
          </a:p>
          <a:p>
            <a:pPr marL="457200" indent="-457200">
              <a:lnSpc>
                <a:spcPct val="90000"/>
              </a:lnSpc>
            </a:pPr>
            <a:r>
              <a:rPr lang="tr-TR" sz="1200" b="1"/>
              <a:t>Data &amp; Experimental Setup</a:t>
            </a:r>
            <a:endParaRPr lang="tr-TR" sz="1200" b="1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tr-TR" sz="1200">
                <a:ea typeface="+mn-lt"/>
                <a:cs typeface="+mn-lt"/>
              </a:rPr>
              <a:t>Randomly generated grid mazes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tr-TR" sz="1200">
                <a:ea typeface="+mn-lt"/>
                <a:cs typeface="+mn-lt"/>
              </a:rPr>
              <a:t>Obstacle density: 25% </a:t>
            </a:r>
            <a:endParaRPr lang="tr-TR" sz="12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tr-TR" sz="1200">
                <a:ea typeface="+mn-lt"/>
                <a:cs typeface="+mn-lt"/>
              </a:rPr>
              <a:t>Maze sizes:  20×20, 50×50, 100×100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tr-TR" sz="1200">
                <a:ea typeface="+mn-lt"/>
                <a:cs typeface="+mn-lt"/>
              </a:rPr>
              <a:t> Performance metrics: Runtime, explored nodes, path cost, path length. The system also supports real-time obstacle insertion and automatic path recalculation.</a:t>
            </a:r>
            <a:endParaRPr lang="tr-TR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703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B36030D-D358-2BBF-95F4-30512507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5EC50865-1065-A074-940F-903323D6D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14" y="58462"/>
            <a:ext cx="8604711" cy="1035579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tr-TR" sz="3300">
                <a:ea typeface="Calibri Light" panose="020F0302020204030204"/>
                <a:cs typeface="Calibri Light" panose="020F0302020204030204"/>
              </a:rPr>
              <a:t>Video Demonstration</a:t>
            </a:r>
          </a:p>
        </p:txBody>
      </p:sp>
      <p:pic>
        <p:nvPicPr>
          <p:cNvPr id="8" name="Recording 2026-05-11 015531">
            <a:hlinkClick r:id="" action="ppaction://media"/>
            <a:extLst>
              <a:ext uri="{FF2B5EF4-FFF2-40B4-BE49-F238E27FC236}">
                <a16:creationId xmlns:a16="http://schemas.microsoft.com/office/drawing/2014/main" xmlns="" id="{A5F6BD69-44AB-0168-757E-510FB2CE5E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91366" y="1226931"/>
            <a:ext cx="9009269" cy="504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0B0A9C98-7AA5-9E18-841C-338D58CB7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751"/>
            <a:ext cx="10131425" cy="1024947"/>
          </a:xfrm>
        </p:spPr>
        <p:txBody>
          <a:bodyPr anchor="b">
            <a:normAutofit/>
          </a:bodyPr>
          <a:lstStyle/>
          <a:p>
            <a:pPr algn="ctr"/>
            <a:r>
              <a:rPr lang="tr-TR" sz="4400">
                <a:ea typeface="+mj-lt"/>
                <a:cs typeface="+mj-lt"/>
              </a:rPr>
              <a:t>ConclusIon &amp; Future Work</a:t>
            </a:r>
            <a:endParaRPr lang="tr-TR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xmlns="" id="{55070E0F-A34F-8D13-A79B-DBF5D866F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199" y="1183097"/>
            <a:ext cx="4709054" cy="576262"/>
          </a:xfrm>
        </p:spPr>
        <p:txBody>
          <a:bodyPr/>
          <a:lstStyle/>
          <a:p>
            <a:r>
              <a:rPr lang="tr-TR">
                <a:ea typeface="+mn-lt"/>
                <a:cs typeface="+mn-lt"/>
              </a:rPr>
              <a:t>Conclusion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3D267A18-5127-63BD-A017-5B4A67396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294" y="1755226"/>
            <a:ext cx="4996923" cy="292099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1450" indent="-171450">
              <a:buClr>
                <a:srgbClr val="FFFFFF"/>
              </a:buClr>
            </a:pPr>
            <a:r>
              <a:rPr lang="tr-TR" sz="1200">
                <a:ea typeface="+mn-lt"/>
                <a:cs typeface="+mn-lt"/>
              </a:rPr>
              <a:t>The A* algorithm significantly outperformed classical uninformed search methods such as BFS and DFS in large and complex maze environments.</a:t>
            </a:r>
          </a:p>
          <a:p>
            <a:pPr marL="171450" indent="-171450"/>
            <a:r>
              <a:rPr lang="tr-TR" sz="1200">
                <a:ea typeface="+mn-lt"/>
                <a:cs typeface="+mn-lt"/>
              </a:rPr>
              <a:t>Experimental results showed that heuristic selection directly affects runtime, node exploration, and path quality.</a:t>
            </a:r>
            <a:endParaRPr lang="tr-TR" sz="1200">
              <a:ea typeface="Calibri" panose="020F0502020204030204"/>
              <a:cs typeface="Calibri" panose="020F0502020204030204"/>
            </a:endParaRPr>
          </a:p>
          <a:p>
            <a:pPr marL="171450" indent="-171450">
              <a:buClr>
                <a:srgbClr val="FFFFFF"/>
              </a:buClr>
            </a:pPr>
            <a:r>
              <a:rPr lang="tr-TR" sz="1200">
                <a:ea typeface="+mn-lt"/>
                <a:cs typeface="+mn-lt"/>
              </a:rPr>
              <a:t>Manhattan heuristic performed faster in some structured maze layouts, but it sometimes generated less optimal paths because it ignores diagonal movement.</a:t>
            </a:r>
            <a:endParaRPr lang="tr-TR" sz="1200">
              <a:ea typeface="Calibri" panose="020F0502020204030204"/>
              <a:cs typeface="Calibri" panose="020F0502020204030204"/>
            </a:endParaRPr>
          </a:p>
          <a:p>
            <a:pPr marL="171450" indent="-171450">
              <a:buClr>
                <a:srgbClr val="FFFFFF"/>
              </a:buClr>
            </a:pPr>
            <a:r>
              <a:rPr lang="tr-TR" sz="1200">
                <a:ea typeface="+mn-lt"/>
                <a:cs typeface="+mn-lt"/>
              </a:rPr>
              <a:t>Euclidean heuristic produced optimal paths, although it explored a larger number of nodes and required higher computational cost in larger mazes.</a:t>
            </a:r>
            <a:endParaRPr lang="tr-TR" sz="1200">
              <a:ea typeface="Calibri" panose="020F0502020204030204"/>
              <a:cs typeface="Calibri" panose="020F0502020204030204"/>
            </a:endParaRPr>
          </a:p>
          <a:p>
            <a:pPr marL="171450" indent="-171450">
              <a:buClr>
                <a:srgbClr val="FFFFFF"/>
              </a:buClr>
            </a:pPr>
            <a:r>
              <a:rPr lang="tr-TR" sz="1200">
                <a:ea typeface="+mn-lt"/>
                <a:cs typeface="+mn-lt"/>
              </a:rPr>
              <a:t>Octile heuristic achieved the best overall balance between efficiency and optimality for 8-directional grid environments.</a:t>
            </a:r>
            <a:endParaRPr lang="tr-TR" sz="1200">
              <a:ea typeface="Calibri" panose="020F0502020204030204"/>
              <a:cs typeface="Calibri" panose="020F0502020204030204"/>
            </a:endParaRPr>
          </a:p>
          <a:p>
            <a:pPr marL="171450" indent="-171450">
              <a:buClr>
                <a:srgbClr val="FFFFFF"/>
              </a:buClr>
            </a:pPr>
            <a:r>
              <a:rPr lang="tr-TR" sz="1200">
                <a:ea typeface="+mn-lt"/>
                <a:cs typeface="+mn-lt"/>
              </a:rPr>
              <a:t>The integration of real-time visualization, live metrics, and dynamic replanning transformed the project from a theoretical algorithm implementation into an interactive AI engineering system.</a:t>
            </a:r>
            <a:endParaRPr lang="tr-TR" sz="1200">
              <a:ea typeface="Calibri" panose="020F0502020204030204"/>
              <a:cs typeface="Calibri" panose="020F0502020204030204"/>
            </a:endParaRPr>
          </a:p>
          <a:p>
            <a:pPr marL="457200" indent="-457200">
              <a:lnSpc>
                <a:spcPct val="90000"/>
              </a:lnSpc>
              <a:buClr>
                <a:srgbClr val="FFFFFF"/>
              </a:buClr>
            </a:pPr>
            <a:endParaRPr lang="tr-TR" sz="1200" b="1">
              <a:ea typeface="Calibri"/>
              <a:cs typeface="Calibri"/>
            </a:endParaRPr>
          </a:p>
        </p:txBody>
      </p:sp>
      <p:sp>
        <p:nvSpPr>
          <p:cNvPr id="9" name="Metin Yer Tutucusu 8">
            <a:extLst>
              <a:ext uri="{FF2B5EF4-FFF2-40B4-BE49-F238E27FC236}">
                <a16:creationId xmlns:a16="http://schemas.microsoft.com/office/drawing/2014/main" xmlns="" id="{F1EBA90C-9314-6CD2-B32C-B896932AE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3" y="1178020"/>
            <a:ext cx="4722813" cy="576262"/>
          </a:xfrm>
        </p:spPr>
        <p:txBody>
          <a:bodyPr/>
          <a:lstStyle/>
          <a:p>
            <a:r>
              <a:rPr lang="tr-TR">
                <a:ea typeface="Calibri"/>
                <a:cs typeface="Calibri"/>
              </a:rPr>
              <a:t>Future Work</a:t>
            </a:r>
            <a:endParaRPr lang="tr-TR"/>
          </a:p>
        </p:txBody>
      </p:sp>
      <p:sp>
        <p:nvSpPr>
          <p:cNvPr id="11" name="İçerik Yer Tutucusu 10">
            <a:extLst>
              <a:ext uri="{FF2B5EF4-FFF2-40B4-BE49-F238E27FC236}">
                <a16:creationId xmlns:a16="http://schemas.microsoft.com/office/drawing/2014/main" xmlns="" id="{560910EF-33D6-9E31-ECF2-6B5C2A1BE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10389" y="1755226"/>
            <a:ext cx="4995334" cy="292099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 sz="1400">
                <a:ea typeface="+mn-lt"/>
                <a:cs typeface="+mn-lt"/>
              </a:rPr>
              <a:t>Integration of advanced replanning algorithms such as D* Lite and LPA*</a:t>
            </a:r>
            <a:endParaRPr lang="tr-TR" sz="140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tr-TR" sz="1400">
                <a:ea typeface="+mn-lt"/>
                <a:cs typeface="+mn-lt"/>
              </a:rPr>
              <a:t> Multi-agent pathfinding and collision avoidance systems</a:t>
            </a:r>
            <a:endParaRPr lang="tr-TR" sz="14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tr-TR" sz="1400">
                <a:ea typeface="+mn-lt"/>
                <a:cs typeface="+mn-lt"/>
              </a:rPr>
              <a:t> Real-time autonomous robot and drone navigation applications</a:t>
            </a:r>
            <a:endParaRPr lang="tr-TR" sz="14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tr-TR" sz="1400">
                <a:ea typeface="+mn-lt"/>
                <a:cs typeface="+mn-lt"/>
              </a:rPr>
              <a:t> GPU-based optimization for larger-scale dynamic environments</a:t>
            </a:r>
            <a:endParaRPr lang="tr-TR" sz="14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tr-TR" sz="1400">
                <a:ea typeface="+mn-lt"/>
                <a:cs typeface="+mn-lt"/>
              </a:rPr>
              <a:t> Adaptive heuristic systems that automatically change according to maze density</a:t>
            </a:r>
            <a:endParaRPr lang="tr-TR" sz="14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tr-TR" sz="1400">
                <a:ea typeface="+mn-lt"/>
                <a:cs typeface="+mn-lt"/>
              </a:rPr>
              <a:t> More advanced benchmarking under realistic autonomous navigation scenarios</a:t>
            </a:r>
            <a:endParaRPr lang="tr-TR" sz="1400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tr-TR" sz="1400">
              <a:ea typeface="Calibri"/>
              <a:cs typeface="Calibri"/>
            </a:endParaRPr>
          </a:p>
        </p:txBody>
      </p:sp>
      <p:sp>
        <p:nvSpPr>
          <p:cNvPr id="14" name="Metin Yer Tutucusu 8">
            <a:extLst>
              <a:ext uri="{FF2B5EF4-FFF2-40B4-BE49-F238E27FC236}">
                <a16:creationId xmlns:a16="http://schemas.microsoft.com/office/drawing/2014/main" xmlns="" id="{DF1E457E-C6B2-BE27-2DEC-BE3447488B0E}"/>
              </a:ext>
            </a:extLst>
          </p:cNvPr>
          <p:cNvSpPr txBox="1">
            <a:spLocks/>
          </p:cNvSpPr>
          <p:nvPr/>
        </p:nvSpPr>
        <p:spPr>
          <a:xfrm>
            <a:off x="3818630" y="5025401"/>
            <a:ext cx="5154133" cy="14532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tr-TR" sz="2400"/>
              <a:t>Final Insight</a:t>
            </a:r>
            <a:endParaRPr lang="tr-TR" sz="2400">
              <a:ea typeface="Calibri"/>
              <a:cs typeface="Calibri"/>
            </a:endParaRPr>
          </a:p>
          <a:p>
            <a:r>
              <a:rPr lang="tr-TR" sz="1600">
                <a:ea typeface="+mn-lt"/>
                <a:cs typeface="+mn-lt"/>
              </a:rPr>
              <a:t> The effectiveness of A* depends not only on the algorithm itself, but also on how well the heuristic matches the structure of the environment.</a:t>
            </a:r>
            <a:endParaRPr lang="tr-TR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95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Office PowerPoint</Application>
  <PresentationFormat>Widescreen</PresentationFormat>
  <Paragraphs>68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A Shortest Path Fınder ın Mazes Usıng A Search and Heurıstıc Optımızatıon</vt:lpstr>
      <vt:lpstr>A Shortest Path FInder In Mazes Using A Search and Heuristic OptImIzatIon</vt:lpstr>
      <vt:lpstr>Implementatıon &amp; Features</vt:lpstr>
      <vt:lpstr>METHODOLOGY AND DATA</vt:lpstr>
      <vt:lpstr>Video Demonstration</vt:lpstr>
      <vt:lpstr>ConclusIon &amp; Future Work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Shortest Path Fınder ın Mazes Usıng A Search and Heurıstıc Optımızatıon</dc:title>
  <dc:creator>Muhammad Talal Shahid</dc:creator>
  <cp:lastModifiedBy>MINAAM MUHAMMAD BIN FARHAT</cp:lastModifiedBy>
  <cp:revision>20</cp:revision>
  <dcterms:created xsi:type="dcterms:W3CDTF">2026-05-09T23:06:30Z</dcterms:created>
  <dcterms:modified xsi:type="dcterms:W3CDTF">2026-05-10T23:01:26Z</dcterms:modified>
</cp:coreProperties>
</file>