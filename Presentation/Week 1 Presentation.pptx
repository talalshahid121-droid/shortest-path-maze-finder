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10287000" cx="18288000"/>
  <p:notesSz cx="6858000" cy="9144000"/>
  <p:embeddedFontLst>
    <p:embeddedFont>
      <p:font typeface="League Spartan"/>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8" roundtripDataSignature="AMtx7mj55xllMgxdhiBDbaEU5qwkaiDV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985F959-7E72-4A40-A366-C58715417326}">
  <a:tblStyle styleId="{0985F959-7E72-4A40-A366-C5871541732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eagueSpartan-regular.fntdata"/><Relationship Id="rId25" Type="http://schemas.openxmlformats.org/officeDocument/2006/relationships/slide" Target="slides/slide19.xml"/><Relationship Id="rId28" Type="http://customschemas.google.com/relationships/presentationmetadata" Target="metadata"/><Relationship Id="rId27" Type="http://schemas.openxmlformats.org/officeDocument/2006/relationships/font" Target="fonts/LeagueSpartan-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9"/>
          <p:cNvSpPr/>
          <p:nvPr>
            <p:ph idx="2" type="pic"/>
          </p:nvPr>
        </p:nvSpPr>
        <p:spPr>
          <a:xfrm>
            <a:off x="1792288" y="612775"/>
            <a:ext cx="5486400" cy="4114800"/>
          </a:xfrm>
          <a:prstGeom prst="rect">
            <a:avLst/>
          </a:prstGeom>
          <a:noFill/>
          <a:ln>
            <a:noFill/>
          </a:ln>
        </p:spPr>
      </p:sp>
      <p:sp>
        <p:nvSpPr>
          <p:cNvPr id="64" name="Google Shape;64;p2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83" name="Shape 83"/>
        <p:cNvGrpSpPr/>
        <p:nvPr/>
      </p:nvGrpSpPr>
      <p:grpSpPr>
        <a:xfrm>
          <a:off x="0" y="0"/>
          <a:ext cx="0" cy="0"/>
          <a:chOff x="0" y="0"/>
          <a:chExt cx="0" cy="0"/>
        </a:xfrm>
      </p:grpSpPr>
      <p:sp>
        <p:nvSpPr>
          <p:cNvPr id="84" name="Google Shape;84;p1"/>
          <p:cNvSpPr/>
          <p:nvPr/>
        </p:nvSpPr>
        <p:spPr>
          <a:xfrm rot="-4299043">
            <a:off x="-1746670" y="4230785"/>
            <a:ext cx="11240987" cy="1825430"/>
          </a:xfrm>
          <a:custGeom>
            <a:rect b="b" l="l" r="r" t="t"/>
            <a:pathLst>
              <a:path extrusionOk="0" h="1825430" w="11240987">
                <a:moveTo>
                  <a:pt x="0" y="0"/>
                </a:moveTo>
                <a:lnTo>
                  <a:pt x="11240987" y="0"/>
                </a:lnTo>
                <a:lnTo>
                  <a:pt x="11240987" y="1825430"/>
                </a:lnTo>
                <a:lnTo>
                  <a:pt x="0" y="1825430"/>
                </a:lnTo>
                <a:lnTo>
                  <a:pt x="0" y="0"/>
                </a:lnTo>
                <a:close/>
              </a:path>
            </a:pathLst>
          </a:custGeom>
          <a:blipFill rotWithShape="1">
            <a:blip r:embed="rId3">
              <a:alphaModFix/>
            </a:blip>
            <a:stretch>
              <a:fillRect b="-6994" l="0" r="0" t="0"/>
            </a:stretch>
          </a:blipFill>
          <a:ln>
            <a:noFill/>
          </a:ln>
        </p:spPr>
      </p:sp>
      <p:grpSp>
        <p:nvGrpSpPr>
          <p:cNvPr id="85" name="Google Shape;85;p1"/>
          <p:cNvGrpSpPr/>
          <p:nvPr/>
        </p:nvGrpSpPr>
        <p:grpSpPr>
          <a:xfrm rot="1107706">
            <a:off x="-898562" y="-1711561"/>
            <a:ext cx="5280133" cy="12606782"/>
            <a:chOff x="0" y="-38100"/>
            <a:chExt cx="1390652" cy="3320305"/>
          </a:xfrm>
        </p:grpSpPr>
        <p:sp>
          <p:nvSpPr>
            <p:cNvPr id="86" name="Google Shape;86;p1"/>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363636"/>
            </a:solidFill>
            <a:ln>
              <a:noFill/>
            </a:ln>
          </p:spPr>
        </p:sp>
        <p:sp>
          <p:nvSpPr>
            <p:cNvPr id="87" name="Google Shape;87;p1"/>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8" name="Google Shape;88;p1"/>
          <p:cNvSpPr/>
          <p:nvPr/>
        </p:nvSpPr>
        <p:spPr>
          <a:xfrm rot="-4299043">
            <a:off x="-2646668" y="4025505"/>
            <a:ext cx="11240987" cy="1953121"/>
          </a:xfrm>
          <a:custGeom>
            <a:rect b="b" l="l" r="r" t="t"/>
            <a:pathLst>
              <a:path extrusionOk="0" h="1953121" w="11240987">
                <a:moveTo>
                  <a:pt x="0" y="0"/>
                </a:moveTo>
                <a:lnTo>
                  <a:pt x="11240987" y="0"/>
                </a:lnTo>
                <a:lnTo>
                  <a:pt x="11240987" y="1953121"/>
                </a:lnTo>
                <a:lnTo>
                  <a:pt x="0" y="1953121"/>
                </a:lnTo>
                <a:lnTo>
                  <a:pt x="0" y="0"/>
                </a:lnTo>
                <a:close/>
              </a:path>
            </a:pathLst>
          </a:custGeom>
          <a:blipFill rotWithShape="1">
            <a:blip r:embed="rId3">
              <a:alphaModFix/>
            </a:blip>
            <a:stretch>
              <a:fillRect b="0" l="0" r="0" t="0"/>
            </a:stretch>
          </a:blipFill>
          <a:ln>
            <a:noFill/>
          </a:ln>
        </p:spPr>
      </p:sp>
      <p:grpSp>
        <p:nvGrpSpPr>
          <p:cNvPr id="89" name="Google Shape;89;p1"/>
          <p:cNvGrpSpPr/>
          <p:nvPr/>
        </p:nvGrpSpPr>
        <p:grpSpPr>
          <a:xfrm rot="1107706">
            <a:off x="-1857555" y="-1960752"/>
            <a:ext cx="5280133" cy="12606782"/>
            <a:chOff x="0" y="-38100"/>
            <a:chExt cx="1390652" cy="3320305"/>
          </a:xfrm>
        </p:grpSpPr>
        <p:sp>
          <p:nvSpPr>
            <p:cNvPr id="90" name="Google Shape;90;p1"/>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91" name="Google Shape;91;p1"/>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2" name="Google Shape;92;p1"/>
          <p:cNvSpPr/>
          <p:nvPr/>
        </p:nvSpPr>
        <p:spPr>
          <a:xfrm>
            <a:off x="277537" y="409472"/>
            <a:ext cx="2933626" cy="2250091"/>
          </a:xfrm>
          <a:custGeom>
            <a:rect b="b" l="l" r="r" t="t"/>
            <a:pathLst>
              <a:path extrusionOk="0" h="2250091" w="2933626">
                <a:moveTo>
                  <a:pt x="0" y="0"/>
                </a:moveTo>
                <a:lnTo>
                  <a:pt x="2933625" y="0"/>
                </a:lnTo>
                <a:lnTo>
                  <a:pt x="2933625" y="2250091"/>
                </a:lnTo>
                <a:lnTo>
                  <a:pt x="0" y="2250091"/>
                </a:lnTo>
                <a:lnTo>
                  <a:pt x="0" y="0"/>
                </a:lnTo>
                <a:close/>
              </a:path>
            </a:pathLst>
          </a:custGeom>
          <a:blipFill rotWithShape="1">
            <a:blip r:embed="rId4">
              <a:alphaModFix/>
            </a:blip>
            <a:stretch>
              <a:fillRect b="0" l="0" r="0" t="0"/>
            </a:stretch>
          </a:blipFill>
          <a:ln>
            <a:noFill/>
          </a:ln>
        </p:spPr>
      </p:sp>
      <p:sp>
        <p:nvSpPr>
          <p:cNvPr id="93" name="Google Shape;93;p1"/>
          <p:cNvSpPr txBox="1"/>
          <p:nvPr/>
        </p:nvSpPr>
        <p:spPr>
          <a:xfrm>
            <a:off x="5670114" y="2545263"/>
            <a:ext cx="11589186" cy="4116048"/>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0" i="0" lang="en-US" sz="5866" u="none" cap="none" strike="noStrike">
                <a:solidFill>
                  <a:srgbClr val="FFFFFF"/>
                </a:solidFill>
                <a:latin typeface="League Spartan"/>
                <a:ea typeface="League Spartan"/>
                <a:cs typeface="League Spartan"/>
                <a:sym typeface="League Spartan"/>
              </a:rPr>
              <a:t>A </a:t>
            </a:r>
            <a:endParaRPr/>
          </a:p>
          <a:p>
            <a:pPr indent="0" lvl="0" marL="0" marR="0" rtl="0" algn="ctr">
              <a:lnSpc>
                <a:spcPct val="139993"/>
              </a:lnSpc>
              <a:spcBef>
                <a:spcPts val="0"/>
              </a:spcBef>
              <a:spcAft>
                <a:spcPts val="0"/>
              </a:spcAft>
              <a:buNone/>
            </a:pPr>
            <a:r>
              <a:rPr b="0" i="0" lang="en-US" sz="5866" u="none" cap="none" strike="noStrike">
                <a:solidFill>
                  <a:srgbClr val="FFFFFF"/>
                </a:solidFill>
                <a:latin typeface="League Spartan"/>
                <a:ea typeface="League Spartan"/>
                <a:cs typeface="League Spartan"/>
                <a:sym typeface="League Spartan"/>
              </a:rPr>
              <a:t>SHORTEST PATH FINDER </a:t>
            </a:r>
            <a:endParaRPr/>
          </a:p>
          <a:p>
            <a:pPr indent="0" lvl="0" marL="0" marR="0" rtl="0" algn="ctr">
              <a:lnSpc>
                <a:spcPct val="139993"/>
              </a:lnSpc>
              <a:spcBef>
                <a:spcPts val="0"/>
              </a:spcBef>
              <a:spcAft>
                <a:spcPts val="0"/>
              </a:spcAft>
              <a:buNone/>
            </a:pPr>
            <a:r>
              <a:rPr b="0" i="0" lang="en-US" sz="5866" u="none" cap="none" strike="noStrike">
                <a:solidFill>
                  <a:srgbClr val="FFFFFF"/>
                </a:solidFill>
                <a:latin typeface="League Spartan"/>
                <a:ea typeface="League Spartan"/>
                <a:cs typeface="League Spartan"/>
                <a:sym typeface="League Spartan"/>
              </a:rPr>
              <a:t>IN </a:t>
            </a:r>
            <a:endParaRPr/>
          </a:p>
          <a:p>
            <a:pPr indent="0" lvl="0" marL="0" marR="0" rtl="0" algn="ctr">
              <a:lnSpc>
                <a:spcPct val="139993"/>
              </a:lnSpc>
              <a:spcBef>
                <a:spcPts val="0"/>
              </a:spcBef>
              <a:spcAft>
                <a:spcPts val="0"/>
              </a:spcAft>
              <a:buNone/>
            </a:pPr>
            <a:r>
              <a:rPr b="0" i="0" lang="en-US" sz="5866" u="none" cap="none" strike="noStrike">
                <a:solidFill>
                  <a:srgbClr val="FFFFFF"/>
                </a:solidFill>
                <a:latin typeface="League Spartan"/>
                <a:ea typeface="League Spartan"/>
                <a:cs typeface="League Spartan"/>
                <a:sym typeface="League Spartan"/>
              </a:rPr>
              <a:t>MAZES</a:t>
            </a:r>
            <a:endParaRPr/>
          </a:p>
        </p:txBody>
      </p:sp>
      <p:sp>
        <p:nvSpPr>
          <p:cNvPr id="94" name="Google Shape;94;p1"/>
          <p:cNvSpPr txBox="1"/>
          <p:nvPr/>
        </p:nvSpPr>
        <p:spPr>
          <a:xfrm>
            <a:off x="6509512" y="6556536"/>
            <a:ext cx="10056265" cy="897716"/>
          </a:xfrm>
          <a:prstGeom prst="rect">
            <a:avLst/>
          </a:prstGeom>
          <a:noFill/>
          <a:ln>
            <a:noFill/>
          </a:ln>
        </p:spPr>
        <p:txBody>
          <a:bodyPr anchorCtr="0" anchor="t" bIns="0" lIns="0" spcFirstLastPara="1" rIns="0" wrap="square" tIns="0">
            <a:spAutoFit/>
          </a:bodyPr>
          <a:lstStyle/>
          <a:p>
            <a:pPr indent="0" lvl="0" marL="0" marR="0" rtl="0" algn="l">
              <a:lnSpc>
                <a:spcPct val="139996"/>
              </a:lnSpc>
              <a:spcBef>
                <a:spcPts val="0"/>
              </a:spcBef>
              <a:spcAft>
                <a:spcPts val="0"/>
              </a:spcAft>
              <a:buNone/>
            </a:pPr>
            <a:r>
              <a:rPr b="0" i="0" lang="en-US" sz="5218" u="none" cap="none" strike="noStrike">
                <a:solidFill>
                  <a:srgbClr val="FFFFFF"/>
                </a:solidFill>
                <a:latin typeface="Arial"/>
                <a:ea typeface="Arial"/>
                <a:cs typeface="Arial"/>
                <a:sym typeface="Arial"/>
              </a:rPr>
              <a:t>COURSE:INTRODUCTION TO AI</a:t>
            </a:r>
            <a:endParaRPr/>
          </a:p>
        </p:txBody>
      </p:sp>
      <p:sp>
        <p:nvSpPr>
          <p:cNvPr id="95" name="Google Shape;95;p1"/>
          <p:cNvSpPr txBox="1"/>
          <p:nvPr/>
        </p:nvSpPr>
        <p:spPr>
          <a:xfrm>
            <a:off x="9999993" y="7397103"/>
            <a:ext cx="2929428" cy="477797"/>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b="0" i="0" lang="en-US" sz="2768" u="none" cap="none" strike="noStrike">
                <a:solidFill>
                  <a:srgbClr val="FFFFFF"/>
                </a:solidFill>
                <a:latin typeface="Arial"/>
                <a:ea typeface="Arial"/>
                <a:cs typeface="Arial"/>
                <a:sym typeface="Arial"/>
              </a:rPr>
              <a:t>Group 2 | 2026</a:t>
            </a:r>
            <a:endParaRPr/>
          </a:p>
        </p:txBody>
      </p:sp>
    </p:spTree>
  </p:cSld>
  <p:clrMapOvr>
    <a:masterClrMapping/>
  </p:clrMapOvr>
  <mc:AlternateContent>
    <mc:Choice Requires="p14">
      <p:transition spd="slow" p14:dur="25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99" name="Shape 99"/>
        <p:cNvGrpSpPr/>
        <p:nvPr/>
      </p:nvGrpSpPr>
      <p:grpSpPr>
        <a:xfrm>
          <a:off x="0" y="0"/>
          <a:ext cx="0" cy="0"/>
          <a:chOff x="0" y="0"/>
          <a:chExt cx="0" cy="0"/>
        </a:xfrm>
      </p:grpSpPr>
      <p:sp>
        <p:nvSpPr>
          <p:cNvPr id="100" name="Google Shape;100;p2"/>
          <p:cNvSpPr/>
          <p:nvPr/>
        </p:nvSpPr>
        <p:spPr>
          <a:xfrm rot="10800000">
            <a:off x="-60925" y="7665293"/>
            <a:ext cx="18336773" cy="3186014"/>
          </a:xfrm>
          <a:custGeom>
            <a:rect b="b" l="l" r="r" t="t"/>
            <a:pathLst>
              <a:path extrusionOk="0" h="3186014" w="18336773">
                <a:moveTo>
                  <a:pt x="0" y="0"/>
                </a:moveTo>
                <a:lnTo>
                  <a:pt x="18336773" y="0"/>
                </a:lnTo>
                <a:lnTo>
                  <a:pt x="18336773" y="3186014"/>
                </a:lnTo>
                <a:lnTo>
                  <a:pt x="0" y="3186014"/>
                </a:lnTo>
                <a:lnTo>
                  <a:pt x="0" y="0"/>
                </a:lnTo>
                <a:close/>
              </a:path>
            </a:pathLst>
          </a:custGeom>
          <a:blipFill rotWithShape="1">
            <a:blip r:embed="rId3">
              <a:alphaModFix/>
            </a:blip>
            <a:stretch>
              <a:fillRect b="0" l="0" r="0" t="0"/>
            </a:stretch>
          </a:blipFill>
          <a:ln>
            <a:noFill/>
          </a:ln>
        </p:spPr>
      </p:sp>
      <p:grpSp>
        <p:nvGrpSpPr>
          <p:cNvPr id="101" name="Google Shape;101;p2"/>
          <p:cNvGrpSpPr/>
          <p:nvPr/>
        </p:nvGrpSpPr>
        <p:grpSpPr>
          <a:xfrm rot="-5400000">
            <a:off x="7855530" y="313888"/>
            <a:ext cx="2675891" cy="20564715"/>
            <a:chOff x="0" y="-38100"/>
            <a:chExt cx="432040" cy="3320305"/>
          </a:xfrm>
        </p:grpSpPr>
        <p:sp>
          <p:nvSpPr>
            <p:cNvPr id="102" name="Google Shape;102;p2"/>
            <p:cNvSpPr/>
            <p:nvPr/>
          </p:nvSpPr>
          <p:spPr>
            <a:xfrm>
              <a:off x="0" y="0"/>
              <a:ext cx="432040" cy="3282205"/>
            </a:xfrm>
            <a:custGeom>
              <a:rect b="b" l="l" r="r" t="t"/>
              <a:pathLst>
                <a:path extrusionOk="0" h="3282205" w="432040">
                  <a:moveTo>
                    <a:pt x="0" y="0"/>
                  </a:moveTo>
                  <a:lnTo>
                    <a:pt x="432040" y="0"/>
                  </a:lnTo>
                  <a:lnTo>
                    <a:pt x="432040" y="3282205"/>
                  </a:lnTo>
                  <a:lnTo>
                    <a:pt x="0" y="3282205"/>
                  </a:lnTo>
                  <a:close/>
                </a:path>
              </a:pathLst>
            </a:custGeom>
            <a:solidFill>
              <a:srgbClr val="EEEEEE"/>
            </a:solidFill>
            <a:ln>
              <a:noFill/>
            </a:ln>
          </p:spPr>
        </p:sp>
        <p:sp>
          <p:nvSpPr>
            <p:cNvPr id="103" name="Google Shape;103;p2"/>
            <p:cNvSpPr txBox="1"/>
            <p:nvPr/>
          </p:nvSpPr>
          <p:spPr>
            <a:xfrm>
              <a:off x="0" y="-38100"/>
              <a:ext cx="432040"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4" name="Google Shape;104;p2"/>
          <p:cNvSpPr/>
          <p:nvPr/>
        </p:nvSpPr>
        <p:spPr>
          <a:xfrm rot="10766903">
            <a:off x="-75836" y="9850170"/>
            <a:ext cx="18336773" cy="3186014"/>
          </a:xfrm>
          <a:custGeom>
            <a:rect b="b" l="l" r="r" t="t"/>
            <a:pathLst>
              <a:path extrusionOk="0" h="3186014" w="18336773">
                <a:moveTo>
                  <a:pt x="0" y="0"/>
                </a:moveTo>
                <a:lnTo>
                  <a:pt x="18336773" y="0"/>
                </a:lnTo>
                <a:lnTo>
                  <a:pt x="18336773" y="3186014"/>
                </a:lnTo>
                <a:lnTo>
                  <a:pt x="0" y="3186014"/>
                </a:lnTo>
                <a:lnTo>
                  <a:pt x="0" y="0"/>
                </a:lnTo>
                <a:close/>
              </a:path>
            </a:pathLst>
          </a:custGeom>
          <a:blipFill rotWithShape="1">
            <a:blip r:embed="rId3">
              <a:alphaModFix/>
            </a:blip>
            <a:stretch>
              <a:fillRect b="0" l="0" r="0" t="0"/>
            </a:stretch>
          </a:blipFill>
          <a:ln>
            <a:noFill/>
          </a:ln>
        </p:spPr>
      </p:sp>
      <p:grpSp>
        <p:nvGrpSpPr>
          <p:cNvPr id="105" name="Google Shape;105;p2"/>
          <p:cNvGrpSpPr/>
          <p:nvPr/>
        </p:nvGrpSpPr>
        <p:grpSpPr>
          <a:xfrm rot="-5426346">
            <a:off x="7243201" y="422662"/>
            <a:ext cx="1489766" cy="20564715"/>
            <a:chOff x="0" y="-38100"/>
            <a:chExt cx="240532" cy="3320305"/>
          </a:xfrm>
        </p:grpSpPr>
        <p:sp>
          <p:nvSpPr>
            <p:cNvPr id="106" name="Google Shape;106;p2"/>
            <p:cNvSpPr/>
            <p:nvPr/>
          </p:nvSpPr>
          <p:spPr>
            <a:xfrm>
              <a:off x="0" y="0"/>
              <a:ext cx="240532" cy="3282205"/>
            </a:xfrm>
            <a:custGeom>
              <a:rect b="b" l="l" r="r" t="t"/>
              <a:pathLst>
                <a:path extrusionOk="0" h="3282205" w="240532">
                  <a:moveTo>
                    <a:pt x="0" y="0"/>
                  </a:moveTo>
                  <a:lnTo>
                    <a:pt x="240532" y="0"/>
                  </a:lnTo>
                  <a:lnTo>
                    <a:pt x="240532" y="3282205"/>
                  </a:lnTo>
                  <a:lnTo>
                    <a:pt x="0" y="3282205"/>
                  </a:lnTo>
                  <a:close/>
                </a:path>
              </a:pathLst>
            </a:custGeom>
            <a:solidFill>
              <a:srgbClr val="393E46"/>
            </a:solidFill>
            <a:ln>
              <a:noFill/>
            </a:ln>
          </p:spPr>
        </p:sp>
        <p:sp>
          <p:nvSpPr>
            <p:cNvPr id="107" name="Google Shape;107;p2"/>
            <p:cNvSpPr txBox="1"/>
            <p:nvPr/>
          </p:nvSpPr>
          <p:spPr>
            <a:xfrm>
              <a:off x="0" y="-38100"/>
              <a:ext cx="24053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08" name="Google Shape;108;p2"/>
          <p:cNvCxnSpPr/>
          <p:nvPr/>
        </p:nvCxnSpPr>
        <p:spPr>
          <a:xfrm>
            <a:off x="3918643" y="2508885"/>
            <a:ext cx="10366605" cy="0"/>
          </a:xfrm>
          <a:prstGeom prst="straightConnector1">
            <a:avLst/>
          </a:prstGeom>
          <a:noFill/>
          <a:ln cap="flat" cmpd="sng" w="38100">
            <a:solidFill>
              <a:srgbClr val="FFFFFF"/>
            </a:solidFill>
            <a:prstDash val="solid"/>
            <a:round/>
            <a:headEnd len="sm" w="sm" type="none"/>
            <a:tailEnd len="sm" w="sm" type="none"/>
          </a:ln>
        </p:spPr>
      </p:cxnSp>
      <p:sp>
        <p:nvSpPr>
          <p:cNvPr id="109" name="Google Shape;109;p2"/>
          <p:cNvSpPr/>
          <p:nvPr/>
        </p:nvSpPr>
        <p:spPr>
          <a:xfrm>
            <a:off x="11842672" y="2989897"/>
            <a:ext cx="6245277" cy="4422941"/>
          </a:xfrm>
          <a:custGeom>
            <a:rect b="b" l="l" r="r" t="t"/>
            <a:pathLst>
              <a:path extrusionOk="0" h="4422941" w="6245277">
                <a:moveTo>
                  <a:pt x="0" y="0"/>
                </a:moveTo>
                <a:lnTo>
                  <a:pt x="6245276" y="0"/>
                </a:lnTo>
                <a:lnTo>
                  <a:pt x="6245276" y="4422941"/>
                </a:lnTo>
                <a:lnTo>
                  <a:pt x="0" y="4422941"/>
                </a:lnTo>
                <a:lnTo>
                  <a:pt x="0" y="0"/>
                </a:lnTo>
                <a:close/>
              </a:path>
            </a:pathLst>
          </a:custGeom>
          <a:blipFill rotWithShape="1">
            <a:blip r:embed="rId4">
              <a:alphaModFix/>
            </a:blip>
            <a:stretch>
              <a:fillRect b="0" l="-3114" r="-3113" t="0"/>
            </a:stretch>
          </a:blipFill>
          <a:ln>
            <a:noFill/>
          </a:ln>
        </p:spPr>
      </p:sp>
      <p:sp>
        <p:nvSpPr>
          <p:cNvPr id="110" name="Google Shape;110;p2"/>
          <p:cNvSpPr txBox="1"/>
          <p:nvPr/>
        </p:nvSpPr>
        <p:spPr>
          <a:xfrm>
            <a:off x="3692553" y="847725"/>
            <a:ext cx="10859641" cy="1642110"/>
          </a:xfrm>
          <a:prstGeom prst="rect">
            <a:avLst/>
          </a:prstGeom>
          <a:noFill/>
          <a:ln>
            <a:noFill/>
          </a:ln>
        </p:spPr>
        <p:txBody>
          <a:bodyPr anchorCtr="0" anchor="t" bIns="0" lIns="0" spcFirstLastPara="1" rIns="0" wrap="square" tIns="0">
            <a:spAutoFit/>
          </a:bodyPr>
          <a:lstStyle/>
          <a:p>
            <a:pPr indent="0" lvl="0" marL="0" marR="0" rtl="0" algn="ctr">
              <a:lnSpc>
                <a:spcPct val="139989"/>
              </a:lnSpc>
              <a:spcBef>
                <a:spcPts val="0"/>
              </a:spcBef>
              <a:spcAft>
                <a:spcPts val="0"/>
              </a:spcAft>
              <a:buNone/>
            </a:pPr>
            <a:r>
              <a:rPr b="0" i="0" lang="en-US" sz="9600" u="none" cap="none" strike="noStrike">
                <a:solidFill>
                  <a:srgbClr val="FFFFFF"/>
                </a:solidFill>
                <a:latin typeface="League Spartan"/>
                <a:ea typeface="League Spartan"/>
                <a:cs typeface="League Spartan"/>
                <a:sym typeface="League Spartan"/>
              </a:rPr>
              <a:t>INTRODUCTION</a:t>
            </a:r>
            <a:endParaRPr/>
          </a:p>
        </p:txBody>
      </p:sp>
      <p:sp>
        <p:nvSpPr>
          <p:cNvPr id="111" name="Google Shape;111;p2"/>
          <p:cNvSpPr txBox="1"/>
          <p:nvPr/>
        </p:nvSpPr>
        <p:spPr>
          <a:xfrm>
            <a:off x="203379" y="2932747"/>
            <a:ext cx="11402439" cy="628269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This project focuses on developing a Shortest Path Finder in Dynamic Mazes using the classical A* (A-Star) informed search algorithm. The system computes the optimal path from a start node to a goal node in a grid-based environment while handling static and dynamic obstacles through real-time replanning.</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We compare multiple admissible heuristic functions—Manhattan, Euclidean, and Octile distance—to evaluate their impact on search efficiency, node expansion rate, computational complexity, and path optimality. The project also incorporates search space visualization, performance benchmarking, and heuristic analysis under varying maze densities.</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The objective is to design a clean, educational, and visually interactive framework that demonstrates heuristic-based graph search, cost functions f(n)=g(n)+h(n)f(n) = g(n) + h(n)f(n)=g(n)+h(n), and practical path planning techniques used in robotics and autonomous navigation systems.</a:t>
            </a:r>
            <a:endParaRPr/>
          </a:p>
          <a:p>
            <a:pPr indent="0" lvl="0" marL="0" marR="0" rtl="0" algn="l">
              <a:lnSpc>
                <a:spcPct val="139958"/>
              </a:lnSpc>
              <a:spcBef>
                <a:spcPts val="0"/>
              </a:spcBef>
              <a:spcAft>
                <a:spcPts val="0"/>
              </a:spcAft>
              <a:buNone/>
            </a:pPr>
            <a:r>
              <a:t/>
            </a:r>
            <a:endParaRPr b="0" i="0" sz="2400" u="none" cap="none" strike="noStrike">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115" name="Shape 115"/>
        <p:cNvGrpSpPr/>
        <p:nvPr/>
      </p:nvGrpSpPr>
      <p:grpSpPr>
        <a:xfrm>
          <a:off x="0" y="0"/>
          <a:ext cx="0" cy="0"/>
          <a:chOff x="0" y="0"/>
          <a:chExt cx="0" cy="0"/>
        </a:xfrm>
      </p:grpSpPr>
      <p:sp>
        <p:nvSpPr>
          <p:cNvPr id="116" name="Google Shape;116;p3"/>
          <p:cNvSpPr txBox="1"/>
          <p:nvPr/>
        </p:nvSpPr>
        <p:spPr>
          <a:xfrm>
            <a:off x="1359062" y="101600"/>
            <a:ext cx="15584989" cy="12160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500" u="none" cap="none" strike="noStrike">
                <a:solidFill>
                  <a:srgbClr val="FFFFFF"/>
                </a:solidFill>
                <a:latin typeface="League Spartan"/>
                <a:ea typeface="League Spartan"/>
                <a:cs typeface="League Spartan"/>
                <a:sym typeface="League Spartan"/>
              </a:rPr>
              <a:t>PATHFINDING IN STRATEGY GAMES AND MAZE SOLVING USING A*(2016)</a:t>
            </a:r>
            <a:endParaRPr/>
          </a:p>
        </p:txBody>
      </p:sp>
      <p:sp>
        <p:nvSpPr>
          <p:cNvPr id="117" name="Google Shape;117;p3"/>
          <p:cNvSpPr txBox="1"/>
          <p:nvPr/>
        </p:nvSpPr>
        <p:spPr>
          <a:xfrm>
            <a:off x="2357621" y="1872615"/>
            <a:ext cx="13587870" cy="648462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FFFFFF"/>
                </a:solidFill>
                <a:latin typeface="Arial"/>
                <a:ea typeface="Arial"/>
                <a:cs typeface="Arial"/>
                <a:sym typeface="Arial"/>
              </a:rPr>
              <a:t>Authors: Nawaf Hazim Barnouti, Sinan Sameer Mahmood Al-Dabbagh, Mustafa Abdul Sahib Naser </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Journal: Journal of Computer and Communications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Brief:</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Implements the A* algorithm for solving maze problems and strategy game pathfinding using image-based preprocessing.</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Problem:</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Real-time pathfinding in games requires fast and accurate shortest path detection.</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Solution:</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Applied classical A* with image preprocessing to detect walkable regions.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Conclusion:</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A* efficiently finds shortest paths in structured maze environments.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Relevance:</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Provides the basic foundation of classical A* which we extend using adaptive heuristics.</a:t>
            </a:r>
            <a:endParaRPr/>
          </a:p>
          <a:p>
            <a:pPr indent="0" lvl="0" marL="0" marR="0" rtl="0" algn="l">
              <a:lnSpc>
                <a:spcPct val="139958"/>
              </a:lnSpc>
              <a:spcBef>
                <a:spcPts val="0"/>
              </a:spcBef>
              <a:spcAft>
                <a:spcPts val="0"/>
              </a:spcAft>
              <a:buNone/>
            </a:pPr>
            <a:r>
              <a:t/>
            </a:r>
            <a:endParaRPr b="0" i="0" sz="2400" u="none" cap="none" strike="noStrike">
              <a:solidFill>
                <a:srgbClr val="FFFFFF"/>
              </a:solidFill>
              <a:latin typeface="Arial"/>
              <a:ea typeface="Arial"/>
              <a:cs typeface="Arial"/>
              <a:sym typeface="Arial"/>
            </a:endParaRPr>
          </a:p>
        </p:txBody>
      </p:sp>
      <p:cxnSp>
        <p:nvCxnSpPr>
          <p:cNvPr id="118" name="Google Shape;118;p3"/>
          <p:cNvCxnSpPr/>
          <p:nvPr/>
        </p:nvCxnSpPr>
        <p:spPr>
          <a:xfrm>
            <a:off x="1316252" y="1622425"/>
            <a:ext cx="15620242" cy="0"/>
          </a:xfrm>
          <a:prstGeom prst="straightConnector1">
            <a:avLst/>
          </a:prstGeom>
          <a:noFill/>
          <a:ln cap="flat" cmpd="sng" w="38100">
            <a:solidFill>
              <a:srgbClr val="FFFFFF"/>
            </a:solidFill>
            <a:prstDash val="solid"/>
            <a:round/>
            <a:headEnd len="sm" w="sm" type="none"/>
            <a:tailEnd len="sm" w="sm" type="none"/>
          </a:ln>
        </p:spPr>
      </p:cxnSp>
      <p:sp>
        <p:nvSpPr>
          <p:cNvPr id="119" name="Google Shape;119;p3"/>
          <p:cNvSpPr/>
          <p:nvPr/>
        </p:nvSpPr>
        <p:spPr>
          <a:xfrm rot="-8220834">
            <a:off x="-1886423" y="7210510"/>
            <a:ext cx="7912983" cy="1374881"/>
          </a:xfrm>
          <a:custGeom>
            <a:rect b="b" l="l" r="r" t="t"/>
            <a:pathLst>
              <a:path extrusionOk="0" h="1374881" w="7912983">
                <a:moveTo>
                  <a:pt x="0" y="0"/>
                </a:moveTo>
                <a:lnTo>
                  <a:pt x="7912984" y="0"/>
                </a:lnTo>
                <a:lnTo>
                  <a:pt x="7912984" y="1374881"/>
                </a:lnTo>
                <a:lnTo>
                  <a:pt x="0" y="1374881"/>
                </a:lnTo>
                <a:lnTo>
                  <a:pt x="0" y="0"/>
                </a:lnTo>
                <a:close/>
              </a:path>
            </a:pathLst>
          </a:custGeom>
          <a:blipFill rotWithShape="1">
            <a:blip r:embed="rId3">
              <a:alphaModFix/>
            </a:blip>
            <a:stretch>
              <a:fillRect b="0" l="0" r="0" t="0"/>
            </a:stretch>
          </a:blipFill>
          <a:ln>
            <a:noFill/>
          </a:ln>
        </p:spPr>
      </p:sp>
      <p:grpSp>
        <p:nvGrpSpPr>
          <p:cNvPr id="120" name="Google Shape;120;p3"/>
          <p:cNvGrpSpPr/>
          <p:nvPr/>
        </p:nvGrpSpPr>
        <p:grpSpPr>
          <a:xfrm rot="-2814084">
            <a:off x="-866927" y="4655151"/>
            <a:ext cx="3716898" cy="8874422"/>
            <a:chOff x="0" y="-38100"/>
            <a:chExt cx="1390652" cy="3320305"/>
          </a:xfrm>
        </p:grpSpPr>
        <p:sp>
          <p:nvSpPr>
            <p:cNvPr id="121" name="Google Shape;121;p3"/>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122" name="Google Shape;122;p3"/>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3" name="Google Shape;123;p3"/>
          <p:cNvSpPr/>
          <p:nvPr/>
        </p:nvSpPr>
        <p:spPr>
          <a:xfrm rot="-8220834">
            <a:off x="-1598870" y="8278662"/>
            <a:ext cx="7912983" cy="1374881"/>
          </a:xfrm>
          <a:custGeom>
            <a:rect b="b" l="l" r="r" t="t"/>
            <a:pathLst>
              <a:path extrusionOk="0" h="1374881" w="7912983">
                <a:moveTo>
                  <a:pt x="0" y="0"/>
                </a:moveTo>
                <a:lnTo>
                  <a:pt x="7912983" y="0"/>
                </a:lnTo>
                <a:lnTo>
                  <a:pt x="7912983" y="1374881"/>
                </a:lnTo>
                <a:lnTo>
                  <a:pt x="0" y="1374881"/>
                </a:lnTo>
                <a:lnTo>
                  <a:pt x="0" y="0"/>
                </a:lnTo>
                <a:close/>
              </a:path>
            </a:pathLst>
          </a:custGeom>
          <a:blipFill rotWithShape="1">
            <a:blip r:embed="rId3">
              <a:alphaModFix/>
            </a:blip>
            <a:stretch>
              <a:fillRect b="0" l="0" r="0" t="0"/>
            </a:stretch>
          </a:blipFill>
          <a:ln>
            <a:noFill/>
          </a:ln>
        </p:spPr>
      </p:sp>
      <p:grpSp>
        <p:nvGrpSpPr>
          <p:cNvPr id="124" name="Google Shape;124;p3"/>
          <p:cNvGrpSpPr/>
          <p:nvPr/>
        </p:nvGrpSpPr>
        <p:grpSpPr>
          <a:xfrm rot="-2814084">
            <a:off x="-579375" y="5723303"/>
            <a:ext cx="3716898" cy="8874422"/>
            <a:chOff x="0" y="-38100"/>
            <a:chExt cx="1390652" cy="3320305"/>
          </a:xfrm>
        </p:grpSpPr>
        <p:sp>
          <p:nvSpPr>
            <p:cNvPr id="125" name="Google Shape;125;p3"/>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126" name="Google Shape;126;p3"/>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130" name="Shape 130"/>
        <p:cNvGrpSpPr/>
        <p:nvPr/>
      </p:nvGrpSpPr>
      <p:grpSpPr>
        <a:xfrm>
          <a:off x="0" y="0"/>
          <a:ext cx="0" cy="0"/>
          <a:chOff x="0" y="0"/>
          <a:chExt cx="0" cy="0"/>
        </a:xfrm>
      </p:grpSpPr>
      <p:sp>
        <p:nvSpPr>
          <p:cNvPr id="131" name="Google Shape;131;p4"/>
          <p:cNvSpPr/>
          <p:nvPr/>
        </p:nvSpPr>
        <p:spPr>
          <a:xfrm rot="6800474">
            <a:off x="9943552" y="4172986"/>
            <a:ext cx="11240987" cy="1953121"/>
          </a:xfrm>
          <a:custGeom>
            <a:rect b="b" l="l" r="r" t="t"/>
            <a:pathLst>
              <a:path extrusionOk="0" h="1953121" w="11240987">
                <a:moveTo>
                  <a:pt x="0" y="0"/>
                </a:moveTo>
                <a:lnTo>
                  <a:pt x="11240987" y="0"/>
                </a:lnTo>
                <a:lnTo>
                  <a:pt x="11240987" y="1953122"/>
                </a:lnTo>
                <a:lnTo>
                  <a:pt x="0" y="1953122"/>
                </a:lnTo>
                <a:lnTo>
                  <a:pt x="0" y="0"/>
                </a:lnTo>
                <a:close/>
              </a:path>
            </a:pathLst>
          </a:custGeom>
          <a:blipFill rotWithShape="1">
            <a:blip r:embed="rId3">
              <a:alphaModFix/>
            </a:blip>
            <a:stretch>
              <a:fillRect b="0" l="0" r="0" t="0"/>
            </a:stretch>
          </a:blipFill>
          <a:ln>
            <a:noFill/>
          </a:ln>
        </p:spPr>
      </p:sp>
      <p:grpSp>
        <p:nvGrpSpPr>
          <p:cNvPr id="132" name="Google Shape;132;p4"/>
          <p:cNvGrpSpPr/>
          <p:nvPr/>
        </p:nvGrpSpPr>
        <p:grpSpPr>
          <a:xfrm rot="-9392774">
            <a:off x="15085036" y="-491760"/>
            <a:ext cx="5280133" cy="12606782"/>
            <a:chOff x="0" y="-38100"/>
            <a:chExt cx="1390652" cy="3320305"/>
          </a:xfrm>
        </p:grpSpPr>
        <p:sp>
          <p:nvSpPr>
            <p:cNvPr id="133" name="Google Shape;133;p4"/>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363636"/>
            </a:solidFill>
            <a:ln>
              <a:noFill/>
            </a:ln>
          </p:spPr>
        </p:sp>
        <p:sp>
          <p:nvSpPr>
            <p:cNvPr id="134" name="Google Shape;134;p4"/>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5" name="Google Shape;135;p4"/>
          <p:cNvSpPr/>
          <p:nvPr/>
        </p:nvSpPr>
        <p:spPr>
          <a:xfrm rot="6800474">
            <a:off x="10925197" y="4294216"/>
            <a:ext cx="11240987" cy="1953121"/>
          </a:xfrm>
          <a:custGeom>
            <a:rect b="b" l="l" r="r" t="t"/>
            <a:pathLst>
              <a:path extrusionOk="0" h="1953121" w="11240987">
                <a:moveTo>
                  <a:pt x="0" y="0"/>
                </a:moveTo>
                <a:lnTo>
                  <a:pt x="11240987" y="0"/>
                </a:lnTo>
                <a:lnTo>
                  <a:pt x="11240987" y="1953121"/>
                </a:lnTo>
                <a:lnTo>
                  <a:pt x="0" y="1953121"/>
                </a:lnTo>
                <a:lnTo>
                  <a:pt x="0" y="0"/>
                </a:lnTo>
                <a:close/>
              </a:path>
            </a:pathLst>
          </a:custGeom>
          <a:blipFill rotWithShape="1">
            <a:blip r:embed="rId3">
              <a:alphaModFix/>
            </a:blip>
            <a:stretch>
              <a:fillRect b="0" l="0" r="0" t="0"/>
            </a:stretch>
          </a:blipFill>
          <a:ln>
            <a:noFill/>
          </a:ln>
        </p:spPr>
      </p:sp>
      <p:grpSp>
        <p:nvGrpSpPr>
          <p:cNvPr id="136" name="Google Shape;136;p4"/>
          <p:cNvGrpSpPr/>
          <p:nvPr/>
        </p:nvGrpSpPr>
        <p:grpSpPr>
          <a:xfrm rot="-9392774">
            <a:off x="16018708" y="-160066"/>
            <a:ext cx="5280133" cy="12606782"/>
            <a:chOff x="0" y="-38100"/>
            <a:chExt cx="1390652" cy="3320305"/>
          </a:xfrm>
        </p:grpSpPr>
        <p:sp>
          <p:nvSpPr>
            <p:cNvPr id="137" name="Google Shape;137;p4"/>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138" name="Google Shape;138;p4"/>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9" name="Google Shape;139;p4"/>
          <p:cNvSpPr txBox="1"/>
          <p:nvPr/>
        </p:nvSpPr>
        <p:spPr>
          <a:xfrm>
            <a:off x="484643" y="387358"/>
            <a:ext cx="15079403" cy="121600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FFFFFF"/>
                </a:solidFill>
                <a:latin typeface="League Spartan"/>
                <a:ea typeface="League Spartan"/>
                <a:cs typeface="League Spartan"/>
                <a:sym typeface="League Spartan"/>
              </a:rPr>
              <a:t>AN IMPROVED A* PATH PLANNING ALGORITHM FOR MOBILE ROBOTS IN COMPLEX ENVIRONMENTS (2020)</a:t>
            </a:r>
            <a:endParaRPr/>
          </a:p>
        </p:txBody>
      </p:sp>
      <p:sp>
        <p:nvSpPr>
          <p:cNvPr id="140" name="Google Shape;140;p4"/>
          <p:cNvSpPr txBox="1"/>
          <p:nvPr/>
        </p:nvSpPr>
        <p:spPr>
          <a:xfrm>
            <a:off x="484643" y="2020273"/>
            <a:ext cx="13467851" cy="8056245"/>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FFFFFF"/>
                </a:solidFill>
                <a:latin typeface="Arial"/>
                <a:ea typeface="Arial"/>
                <a:cs typeface="Arial"/>
                <a:sym typeface="Arial"/>
              </a:rPr>
              <a:t>Authors: Y. Zhang, X. Wang, L. Chen</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Brief:</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This study applies the classical A* search algorithm to grid-based maze environments commonly found in strategy games. The research focuses on comparing informed and uninformed search methods.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Problem:</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Uninformed search algorithms such as BFS and DFS expand a large number of unnecessary nodes, leading to high computational cost and memory usage in maze environments.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Solution / Method:</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The authors implemented A* with heuristic guidance (Manhattan distance) to prioritize nodes closer to the goal, reducing exploration of irrelevant states.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Conclusion:</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A* significantly reduces node expansion and guarantees optimal solutions when admissible heuristics are used.</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Relevance:</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Forms the theoretical and practical foundation of our maze-based shortest path implementation.</a:t>
            </a:r>
            <a:endParaRPr/>
          </a:p>
          <a:p>
            <a:pPr indent="0" lvl="0" marL="0" marR="0" rtl="0" algn="l">
              <a:lnSpc>
                <a:spcPct val="139958"/>
              </a:lnSpc>
              <a:spcBef>
                <a:spcPts val="0"/>
              </a:spcBef>
              <a:spcAft>
                <a:spcPts val="0"/>
              </a:spcAft>
              <a:buNone/>
            </a:pPr>
            <a:r>
              <a:t/>
            </a:r>
            <a:endParaRPr b="0" i="0" sz="2400" u="none" cap="none" strike="noStrike">
              <a:solidFill>
                <a:srgbClr val="FFFFFF"/>
              </a:solidFill>
              <a:latin typeface="Arial"/>
              <a:ea typeface="Arial"/>
              <a:cs typeface="Arial"/>
              <a:sym typeface="Arial"/>
            </a:endParaRPr>
          </a:p>
        </p:txBody>
      </p:sp>
      <p:cxnSp>
        <p:nvCxnSpPr>
          <p:cNvPr id="141" name="Google Shape;141;p4"/>
          <p:cNvCxnSpPr/>
          <p:nvPr/>
        </p:nvCxnSpPr>
        <p:spPr>
          <a:xfrm>
            <a:off x="484643" y="1603367"/>
            <a:ext cx="15022223"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145" name="Shape 145"/>
        <p:cNvGrpSpPr/>
        <p:nvPr/>
      </p:nvGrpSpPr>
      <p:grpSpPr>
        <a:xfrm>
          <a:off x="0" y="0"/>
          <a:ext cx="0" cy="0"/>
          <a:chOff x="0" y="0"/>
          <a:chExt cx="0" cy="0"/>
        </a:xfrm>
      </p:grpSpPr>
      <p:sp>
        <p:nvSpPr>
          <p:cNvPr id="146" name="Google Shape;146;p5"/>
          <p:cNvSpPr txBox="1"/>
          <p:nvPr/>
        </p:nvSpPr>
        <p:spPr>
          <a:xfrm>
            <a:off x="1359062" y="101600"/>
            <a:ext cx="15584989" cy="12160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500" u="none" cap="none" strike="noStrike">
                <a:solidFill>
                  <a:srgbClr val="FFFFFF"/>
                </a:solidFill>
                <a:latin typeface="League Spartan"/>
                <a:ea typeface="League Spartan"/>
                <a:cs typeface="League Spartan"/>
                <a:sym typeface="League Spartan"/>
              </a:rPr>
              <a:t>SHORTEST PATHFINDING IN A STANDARD RECTANGULAR MAZE USING A*(2024)</a:t>
            </a:r>
            <a:endParaRPr/>
          </a:p>
        </p:txBody>
      </p:sp>
      <p:sp>
        <p:nvSpPr>
          <p:cNvPr id="147" name="Google Shape;147;p5"/>
          <p:cNvSpPr txBox="1"/>
          <p:nvPr/>
        </p:nvSpPr>
        <p:spPr>
          <a:xfrm>
            <a:off x="1366618" y="1725930"/>
            <a:ext cx="15577433" cy="711327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FFFFFF"/>
                </a:solidFill>
                <a:latin typeface="Arial"/>
                <a:ea typeface="Arial"/>
                <a:cs typeface="Arial"/>
                <a:sym typeface="Arial"/>
              </a:rPr>
              <a:t>Authors: Ka Heng Chan,Aida Mustapha,Siaw Chong Lee</a:t>
            </a:r>
            <a:endParaRPr/>
          </a:p>
          <a:p>
            <a:pPr indent="0" lvl="0" marL="0" marR="0" rtl="0" algn="l">
              <a:lnSpc>
                <a:spcPct val="140013"/>
              </a:lnSpc>
              <a:spcBef>
                <a:spcPts val="0"/>
              </a:spcBef>
              <a:spcAft>
                <a:spcPts val="0"/>
              </a:spcAft>
              <a:buNone/>
            </a:pPr>
            <a:r>
              <a:rPr b="1" i="0" lang="en-US" sz="2999" u="none" cap="none" strike="noStrike">
                <a:solidFill>
                  <a:srgbClr val="FFFFFF"/>
                </a:solidFill>
                <a:latin typeface="Arial"/>
                <a:ea typeface="Arial"/>
                <a:cs typeface="Arial"/>
                <a:sym typeface="Arial"/>
              </a:rPr>
              <a:t>Faculty of Applied Sciences and Technology, Universiti Tun Hussein Onn Malaysia, KM 1, Jalan Panchor, 84600 Pagoh, Johor, MALAYSIA</a:t>
            </a:r>
            <a:endParaRPr/>
          </a:p>
          <a:p>
            <a:pPr indent="0" lvl="0" marL="0" marR="0" rtl="0" algn="ctr">
              <a:lnSpc>
                <a:spcPct val="140013"/>
              </a:lnSpc>
              <a:spcBef>
                <a:spcPts val="0"/>
              </a:spcBef>
              <a:spcAft>
                <a:spcPts val="0"/>
              </a:spcAft>
              <a:buNone/>
            </a:pPr>
            <a:r>
              <a:t/>
            </a:r>
            <a:endParaRPr b="1" i="0" sz="2999" u="none" cap="none" strike="noStrike">
              <a:solidFill>
                <a:srgbClr val="FFFFFF"/>
              </a:solidFill>
              <a:latin typeface="Arial"/>
              <a:ea typeface="Arial"/>
              <a:cs typeface="Arial"/>
              <a:sym typeface="Arial"/>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Journal: International Journal of Integrated Engineering</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Brief:</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Implements A* in MATLAB to solve rectangular mazes using Manhattan and Euclidean heuristics.</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Problem:</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Large mazes are computationally expensive.</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Solution:</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Comparison of heuristic functions for efficiency.</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Conclusion:</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Heuristic choice significantly affects performance.</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Relevance:</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Direct inspiration for heuristic comparison and automatic selection.</a:t>
            </a:r>
            <a:endParaRPr/>
          </a:p>
          <a:p>
            <a:pPr indent="0" lvl="0" marL="0" marR="0" rtl="0" algn="ctr">
              <a:lnSpc>
                <a:spcPct val="139958"/>
              </a:lnSpc>
              <a:spcBef>
                <a:spcPts val="0"/>
              </a:spcBef>
              <a:spcAft>
                <a:spcPts val="0"/>
              </a:spcAft>
              <a:buNone/>
            </a:pPr>
            <a:r>
              <a:t/>
            </a:r>
            <a:endParaRPr b="0" i="0" sz="2400" u="none" cap="none" strike="noStrike">
              <a:solidFill>
                <a:srgbClr val="FFFFFF"/>
              </a:solidFill>
              <a:latin typeface="Arial"/>
              <a:ea typeface="Arial"/>
              <a:cs typeface="Arial"/>
              <a:sym typeface="Arial"/>
            </a:endParaRPr>
          </a:p>
        </p:txBody>
      </p:sp>
      <p:cxnSp>
        <p:nvCxnSpPr>
          <p:cNvPr id="148" name="Google Shape;148;p5"/>
          <p:cNvCxnSpPr/>
          <p:nvPr/>
        </p:nvCxnSpPr>
        <p:spPr>
          <a:xfrm>
            <a:off x="1316252" y="1622425"/>
            <a:ext cx="15620242" cy="0"/>
          </a:xfrm>
          <a:prstGeom prst="straightConnector1">
            <a:avLst/>
          </a:prstGeom>
          <a:noFill/>
          <a:ln cap="flat" cmpd="sng" w="38100">
            <a:solidFill>
              <a:srgbClr val="FFFFFF"/>
            </a:solidFill>
            <a:prstDash val="solid"/>
            <a:round/>
            <a:headEnd len="sm" w="sm" type="none"/>
            <a:tailEnd len="sm" w="sm" type="none"/>
          </a:ln>
        </p:spPr>
      </p:cxnSp>
      <p:sp>
        <p:nvSpPr>
          <p:cNvPr id="149" name="Google Shape;149;p5"/>
          <p:cNvSpPr/>
          <p:nvPr/>
        </p:nvSpPr>
        <p:spPr>
          <a:xfrm rot="-8220834">
            <a:off x="-1555018" y="7441243"/>
            <a:ext cx="7912983" cy="1374881"/>
          </a:xfrm>
          <a:custGeom>
            <a:rect b="b" l="l" r="r" t="t"/>
            <a:pathLst>
              <a:path extrusionOk="0" h="1374881" w="7912983">
                <a:moveTo>
                  <a:pt x="0" y="0"/>
                </a:moveTo>
                <a:lnTo>
                  <a:pt x="7912983" y="0"/>
                </a:lnTo>
                <a:lnTo>
                  <a:pt x="7912983" y="1374880"/>
                </a:lnTo>
                <a:lnTo>
                  <a:pt x="0" y="1374880"/>
                </a:lnTo>
                <a:lnTo>
                  <a:pt x="0" y="0"/>
                </a:lnTo>
                <a:close/>
              </a:path>
            </a:pathLst>
          </a:custGeom>
          <a:blipFill rotWithShape="1">
            <a:blip r:embed="rId3">
              <a:alphaModFix/>
            </a:blip>
            <a:stretch>
              <a:fillRect b="0" l="0" r="0" t="0"/>
            </a:stretch>
          </a:blipFill>
          <a:ln>
            <a:noFill/>
          </a:ln>
        </p:spPr>
      </p:sp>
      <p:grpSp>
        <p:nvGrpSpPr>
          <p:cNvPr id="150" name="Google Shape;150;p5"/>
          <p:cNvGrpSpPr/>
          <p:nvPr/>
        </p:nvGrpSpPr>
        <p:grpSpPr>
          <a:xfrm rot="-2814084">
            <a:off x="-125299" y="5815001"/>
            <a:ext cx="3716898" cy="8874422"/>
            <a:chOff x="0" y="-38100"/>
            <a:chExt cx="1390652" cy="3320305"/>
          </a:xfrm>
        </p:grpSpPr>
        <p:sp>
          <p:nvSpPr>
            <p:cNvPr id="151" name="Google Shape;151;p5"/>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152" name="Google Shape;152;p5"/>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3" name="Google Shape;153;p5"/>
          <p:cNvSpPr/>
          <p:nvPr/>
        </p:nvSpPr>
        <p:spPr>
          <a:xfrm rot="-8220834">
            <a:off x="-1289634" y="8570860"/>
            <a:ext cx="7912983" cy="1374881"/>
          </a:xfrm>
          <a:custGeom>
            <a:rect b="b" l="l" r="r" t="t"/>
            <a:pathLst>
              <a:path extrusionOk="0" h="1374881" w="7912983">
                <a:moveTo>
                  <a:pt x="0" y="0"/>
                </a:moveTo>
                <a:lnTo>
                  <a:pt x="7912984" y="0"/>
                </a:lnTo>
                <a:lnTo>
                  <a:pt x="7912984" y="1374880"/>
                </a:lnTo>
                <a:lnTo>
                  <a:pt x="0" y="1374880"/>
                </a:lnTo>
                <a:lnTo>
                  <a:pt x="0" y="0"/>
                </a:lnTo>
                <a:close/>
              </a:path>
            </a:pathLst>
          </a:custGeom>
          <a:blipFill rotWithShape="1">
            <a:blip r:embed="rId3">
              <a:alphaModFix/>
            </a:blip>
            <a:stretch>
              <a:fillRect b="0" l="0" r="0" t="0"/>
            </a:stretch>
          </a:blipFill>
          <a:ln>
            <a:noFill/>
          </a:ln>
        </p:spPr>
      </p:sp>
      <p:grpSp>
        <p:nvGrpSpPr>
          <p:cNvPr id="154" name="Google Shape;154;p5"/>
          <p:cNvGrpSpPr/>
          <p:nvPr/>
        </p:nvGrpSpPr>
        <p:grpSpPr>
          <a:xfrm rot="-2814084">
            <a:off x="-603769" y="6010385"/>
            <a:ext cx="3716898" cy="8874422"/>
            <a:chOff x="0" y="-38100"/>
            <a:chExt cx="1390652" cy="3320305"/>
          </a:xfrm>
        </p:grpSpPr>
        <p:sp>
          <p:nvSpPr>
            <p:cNvPr id="155" name="Google Shape;155;p5"/>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156" name="Google Shape;156;p5"/>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160" name="Shape 160"/>
        <p:cNvGrpSpPr/>
        <p:nvPr/>
      </p:nvGrpSpPr>
      <p:grpSpPr>
        <a:xfrm>
          <a:off x="0" y="0"/>
          <a:ext cx="0" cy="0"/>
          <a:chOff x="0" y="0"/>
          <a:chExt cx="0" cy="0"/>
        </a:xfrm>
      </p:grpSpPr>
      <p:sp>
        <p:nvSpPr>
          <p:cNvPr id="161" name="Google Shape;161;p6"/>
          <p:cNvSpPr/>
          <p:nvPr/>
        </p:nvSpPr>
        <p:spPr>
          <a:xfrm rot="6800474">
            <a:off x="9943552" y="4172986"/>
            <a:ext cx="11240987" cy="1953121"/>
          </a:xfrm>
          <a:custGeom>
            <a:rect b="b" l="l" r="r" t="t"/>
            <a:pathLst>
              <a:path extrusionOk="0" h="1953121" w="11240987">
                <a:moveTo>
                  <a:pt x="0" y="0"/>
                </a:moveTo>
                <a:lnTo>
                  <a:pt x="11240987" y="0"/>
                </a:lnTo>
                <a:lnTo>
                  <a:pt x="11240987" y="1953122"/>
                </a:lnTo>
                <a:lnTo>
                  <a:pt x="0" y="1953122"/>
                </a:lnTo>
                <a:lnTo>
                  <a:pt x="0" y="0"/>
                </a:lnTo>
                <a:close/>
              </a:path>
            </a:pathLst>
          </a:custGeom>
          <a:blipFill rotWithShape="1">
            <a:blip r:embed="rId3">
              <a:alphaModFix/>
            </a:blip>
            <a:stretch>
              <a:fillRect b="0" l="0" r="0" t="0"/>
            </a:stretch>
          </a:blipFill>
          <a:ln>
            <a:noFill/>
          </a:ln>
        </p:spPr>
      </p:sp>
      <p:grpSp>
        <p:nvGrpSpPr>
          <p:cNvPr id="162" name="Google Shape;162;p6"/>
          <p:cNvGrpSpPr/>
          <p:nvPr/>
        </p:nvGrpSpPr>
        <p:grpSpPr>
          <a:xfrm rot="-9392774">
            <a:off x="15085036" y="-491760"/>
            <a:ext cx="5280133" cy="12606782"/>
            <a:chOff x="0" y="-38100"/>
            <a:chExt cx="1390652" cy="3320305"/>
          </a:xfrm>
        </p:grpSpPr>
        <p:sp>
          <p:nvSpPr>
            <p:cNvPr id="163" name="Google Shape;163;p6"/>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363636"/>
            </a:solidFill>
            <a:ln>
              <a:noFill/>
            </a:ln>
          </p:spPr>
        </p:sp>
        <p:sp>
          <p:nvSpPr>
            <p:cNvPr id="164" name="Google Shape;164;p6"/>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5" name="Google Shape;165;p6"/>
          <p:cNvSpPr/>
          <p:nvPr/>
        </p:nvSpPr>
        <p:spPr>
          <a:xfrm rot="6800474">
            <a:off x="10925197" y="4294216"/>
            <a:ext cx="11240987" cy="1953121"/>
          </a:xfrm>
          <a:custGeom>
            <a:rect b="b" l="l" r="r" t="t"/>
            <a:pathLst>
              <a:path extrusionOk="0" h="1953121" w="11240987">
                <a:moveTo>
                  <a:pt x="0" y="0"/>
                </a:moveTo>
                <a:lnTo>
                  <a:pt x="11240987" y="0"/>
                </a:lnTo>
                <a:lnTo>
                  <a:pt x="11240987" y="1953121"/>
                </a:lnTo>
                <a:lnTo>
                  <a:pt x="0" y="1953121"/>
                </a:lnTo>
                <a:lnTo>
                  <a:pt x="0" y="0"/>
                </a:lnTo>
                <a:close/>
              </a:path>
            </a:pathLst>
          </a:custGeom>
          <a:blipFill rotWithShape="1">
            <a:blip r:embed="rId3">
              <a:alphaModFix/>
            </a:blip>
            <a:stretch>
              <a:fillRect b="0" l="0" r="0" t="0"/>
            </a:stretch>
          </a:blipFill>
          <a:ln>
            <a:noFill/>
          </a:ln>
        </p:spPr>
      </p:sp>
      <p:grpSp>
        <p:nvGrpSpPr>
          <p:cNvPr id="166" name="Google Shape;166;p6"/>
          <p:cNvGrpSpPr/>
          <p:nvPr/>
        </p:nvGrpSpPr>
        <p:grpSpPr>
          <a:xfrm rot="-9392774">
            <a:off x="16018708" y="-160066"/>
            <a:ext cx="5280133" cy="12606782"/>
            <a:chOff x="0" y="-38100"/>
            <a:chExt cx="1390652" cy="3320305"/>
          </a:xfrm>
        </p:grpSpPr>
        <p:sp>
          <p:nvSpPr>
            <p:cNvPr id="167" name="Google Shape;167;p6"/>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168" name="Google Shape;168;p6"/>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9" name="Google Shape;169;p6"/>
          <p:cNvSpPr txBox="1"/>
          <p:nvPr/>
        </p:nvSpPr>
        <p:spPr>
          <a:xfrm>
            <a:off x="484643" y="387358"/>
            <a:ext cx="15079403" cy="121600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FFFFFF"/>
                </a:solidFill>
                <a:latin typeface="League Spartan"/>
                <a:ea typeface="League Spartan"/>
                <a:cs typeface="League Spartan"/>
                <a:sym typeface="League Spartan"/>
              </a:rPr>
              <a:t>RESEARCH ON AN IMPROVED A* ALGORITHM FOR MOBILE ROBOTS(2021)</a:t>
            </a:r>
            <a:endParaRPr/>
          </a:p>
        </p:txBody>
      </p:sp>
      <p:sp>
        <p:nvSpPr>
          <p:cNvPr id="170" name="Google Shape;170;p6"/>
          <p:cNvSpPr txBox="1"/>
          <p:nvPr/>
        </p:nvSpPr>
        <p:spPr>
          <a:xfrm>
            <a:off x="484643" y="2020273"/>
            <a:ext cx="13467851" cy="5541645"/>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FFFFFF"/>
                </a:solidFill>
                <a:latin typeface="Arial"/>
                <a:ea typeface="Arial"/>
                <a:cs typeface="Arial"/>
                <a:sym typeface="Arial"/>
              </a:rPr>
              <a:t>Authors: J. Liu, H. Zhang, Y. Sun</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Journal: IEEE Access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Brief:</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Modified A* to improve efficiency and reduce redundant expansions.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Problem:</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High computational cost in grid environments.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Solution / Method:</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Heuristic optimization and pruning techniques.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Conclusion:</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Improved efficiency without losing optimality.</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Relevance:</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Encourages lightweight heuristic adaptation like ours.</a:t>
            </a:r>
            <a:endParaRPr/>
          </a:p>
          <a:p>
            <a:pPr indent="0" lvl="0" marL="0" marR="0" rtl="0" algn="l">
              <a:lnSpc>
                <a:spcPct val="139958"/>
              </a:lnSpc>
              <a:spcBef>
                <a:spcPts val="0"/>
              </a:spcBef>
              <a:spcAft>
                <a:spcPts val="0"/>
              </a:spcAft>
              <a:buNone/>
            </a:pPr>
            <a:r>
              <a:t/>
            </a:r>
            <a:endParaRPr b="0" i="0" sz="2400" u="none" cap="none" strike="noStrike">
              <a:solidFill>
                <a:srgbClr val="FFFFFF"/>
              </a:solidFill>
              <a:latin typeface="Arial"/>
              <a:ea typeface="Arial"/>
              <a:cs typeface="Arial"/>
              <a:sym typeface="Arial"/>
            </a:endParaRPr>
          </a:p>
        </p:txBody>
      </p:sp>
      <p:cxnSp>
        <p:nvCxnSpPr>
          <p:cNvPr id="171" name="Google Shape;171;p6"/>
          <p:cNvCxnSpPr/>
          <p:nvPr/>
        </p:nvCxnSpPr>
        <p:spPr>
          <a:xfrm>
            <a:off x="484643" y="1603367"/>
            <a:ext cx="15022223"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175" name="Shape 175"/>
        <p:cNvGrpSpPr/>
        <p:nvPr/>
      </p:nvGrpSpPr>
      <p:grpSpPr>
        <a:xfrm>
          <a:off x="0" y="0"/>
          <a:ext cx="0" cy="0"/>
          <a:chOff x="0" y="0"/>
          <a:chExt cx="0" cy="0"/>
        </a:xfrm>
      </p:grpSpPr>
      <p:sp>
        <p:nvSpPr>
          <p:cNvPr id="176" name="Google Shape;176;p7"/>
          <p:cNvSpPr txBox="1"/>
          <p:nvPr/>
        </p:nvSpPr>
        <p:spPr>
          <a:xfrm>
            <a:off x="1359062" y="101600"/>
            <a:ext cx="15584989" cy="12160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500" u="none" cap="none" strike="noStrike">
                <a:solidFill>
                  <a:srgbClr val="FFFFFF"/>
                </a:solidFill>
                <a:latin typeface="League Spartan"/>
                <a:ea typeface="League Spartan"/>
                <a:cs typeface="League Spartan"/>
                <a:sym typeface="League Spartan"/>
              </a:rPr>
              <a:t>HYBRID A-STAR PATH PLANNING METHOD BASED ON HIERARCHICAL CLUSTERING AND TRICHOTOMY(2024)</a:t>
            </a:r>
            <a:endParaRPr/>
          </a:p>
        </p:txBody>
      </p:sp>
      <p:sp>
        <p:nvSpPr>
          <p:cNvPr id="177" name="Google Shape;177;p7"/>
          <p:cNvSpPr txBox="1"/>
          <p:nvPr/>
        </p:nvSpPr>
        <p:spPr>
          <a:xfrm>
            <a:off x="1366618" y="1725930"/>
            <a:ext cx="15577433" cy="606552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FFFFFF"/>
                </a:solidFill>
                <a:latin typeface="Arial"/>
                <a:ea typeface="Arial"/>
                <a:cs typeface="Arial"/>
                <a:sym typeface="Arial"/>
              </a:rPr>
              <a:t>Authors: Tiangen Chang, Guofu Tian</a:t>
            </a:r>
            <a:endParaRPr/>
          </a:p>
          <a:p>
            <a:pPr indent="0" lvl="0" marL="0" marR="0" rtl="0" algn="ctr">
              <a:lnSpc>
                <a:spcPct val="140013"/>
              </a:lnSpc>
              <a:spcBef>
                <a:spcPts val="0"/>
              </a:spcBef>
              <a:spcAft>
                <a:spcPts val="0"/>
              </a:spcAft>
              <a:buNone/>
            </a:pPr>
            <a:r>
              <a:t/>
            </a:r>
            <a:endParaRPr b="1" i="0" sz="2999" u="none" cap="none" strike="noStrike">
              <a:solidFill>
                <a:srgbClr val="FFFFFF"/>
              </a:solidFill>
              <a:latin typeface="Arial"/>
              <a:ea typeface="Arial"/>
              <a:cs typeface="Arial"/>
              <a:sym typeface="Arial"/>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Journal: Applied Sciences (MDPI)</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Brief:</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Hybrid A* combined with hierarchical clustering for vehicle planning.</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Problem:</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Standard Hybrid A* generates long and complex paths.</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Solution:</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Hierarchical map preprocessing + optimization.</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Conclusion:</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Shorter and smoother vehicle trajectories.</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Relevance:</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Demonstrates that optimization layers improve A* performance.</a:t>
            </a:r>
            <a:endParaRPr/>
          </a:p>
          <a:p>
            <a:pPr indent="0" lvl="0" marL="0" marR="0" rtl="0" algn="ctr">
              <a:lnSpc>
                <a:spcPct val="139958"/>
              </a:lnSpc>
              <a:spcBef>
                <a:spcPts val="0"/>
              </a:spcBef>
              <a:spcAft>
                <a:spcPts val="0"/>
              </a:spcAft>
              <a:buNone/>
            </a:pPr>
            <a:r>
              <a:t/>
            </a:r>
            <a:endParaRPr b="0" i="0" sz="2400" u="none" cap="none" strike="noStrike">
              <a:solidFill>
                <a:srgbClr val="FFFFFF"/>
              </a:solidFill>
              <a:latin typeface="Arial"/>
              <a:ea typeface="Arial"/>
              <a:cs typeface="Arial"/>
              <a:sym typeface="Arial"/>
            </a:endParaRPr>
          </a:p>
        </p:txBody>
      </p:sp>
      <p:cxnSp>
        <p:nvCxnSpPr>
          <p:cNvPr id="178" name="Google Shape;178;p7"/>
          <p:cNvCxnSpPr/>
          <p:nvPr/>
        </p:nvCxnSpPr>
        <p:spPr>
          <a:xfrm>
            <a:off x="1316252" y="1622425"/>
            <a:ext cx="15620242" cy="0"/>
          </a:xfrm>
          <a:prstGeom prst="straightConnector1">
            <a:avLst/>
          </a:prstGeom>
          <a:noFill/>
          <a:ln cap="flat" cmpd="sng" w="38100">
            <a:solidFill>
              <a:srgbClr val="FFFFFF"/>
            </a:solidFill>
            <a:prstDash val="solid"/>
            <a:round/>
            <a:headEnd len="sm" w="sm" type="none"/>
            <a:tailEnd len="sm" w="sm" type="none"/>
          </a:ln>
        </p:spPr>
      </p:cxnSp>
      <p:sp>
        <p:nvSpPr>
          <p:cNvPr id="179" name="Google Shape;179;p7"/>
          <p:cNvSpPr/>
          <p:nvPr/>
        </p:nvSpPr>
        <p:spPr>
          <a:xfrm rot="-8220834">
            <a:off x="-1555018" y="7441243"/>
            <a:ext cx="7912983" cy="1374881"/>
          </a:xfrm>
          <a:custGeom>
            <a:rect b="b" l="l" r="r" t="t"/>
            <a:pathLst>
              <a:path extrusionOk="0" h="1374881" w="7912983">
                <a:moveTo>
                  <a:pt x="0" y="0"/>
                </a:moveTo>
                <a:lnTo>
                  <a:pt x="7912983" y="0"/>
                </a:lnTo>
                <a:lnTo>
                  <a:pt x="7912983" y="1374880"/>
                </a:lnTo>
                <a:lnTo>
                  <a:pt x="0" y="1374880"/>
                </a:lnTo>
                <a:lnTo>
                  <a:pt x="0" y="0"/>
                </a:lnTo>
                <a:close/>
              </a:path>
            </a:pathLst>
          </a:custGeom>
          <a:blipFill rotWithShape="1">
            <a:blip r:embed="rId3">
              <a:alphaModFix/>
            </a:blip>
            <a:stretch>
              <a:fillRect b="0" l="0" r="0" t="0"/>
            </a:stretch>
          </a:blipFill>
          <a:ln>
            <a:noFill/>
          </a:ln>
        </p:spPr>
      </p:sp>
      <p:grpSp>
        <p:nvGrpSpPr>
          <p:cNvPr id="180" name="Google Shape;180;p7"/>
          <p:cNvGrpSpPr/>
          <p:nvPr/>
        </p:nvGrpSpPr>
        <p:grpSpPr>
          <a:xfrm rot="-2814084">
            <a:off x="-125299" y="5815001"/>
            <a:ext cx="3716898" cy="8874422"/>
            <a:chOff x="0" y="-38100"/>
            <a:chExt cx="1390652" cy="3320305"/>
          </a:xfrm>
        </p:grpSpPr>
        <p:sp>
          <p:nvSpPr>
            <p:cNvPr id="181" name="Google Shape;181;p7"/>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182" name="Google Shape;182;p7"/>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3" name="Google Shape;183;p7"/>
          <p:cNvSpPr/>
          <p:nvPr/>
        </p:nvSpPr>
        <p:spPr>
          <a:xfrm rot="-8220834">
            <a:off x="-1289634" y="8570860"/>
            <a:ext cx="7912983" cy="1374881"/>
          </a:xfrm>
          <a:custGeom>
            <a:rect b="b" l="l" r="r" t="t"/>
            <a:pathLst>
              <a:path extrusionOk="0" h="1374881" w="7912983">
                <a:moveTo>
                  <a:pt x="0" y="0"/>
                </a:moveTo>
                <a:lnTo>
                  <a:pt x="7912984" y="0"/>
                </a:lnTo>
                <a:lnTo>
                  <a:pt x="7912984" y="1374880"/>
                </a:lnTo>
                <a:lnTo>
                  <a:pt x="0" y="1374880"/>
                </a:lnTo>
                <a:lnTo>
                  <a:pt x="0" y="0"/>
                </a:lnTo>
                <a:close/>
              </a:path>
            </a:pathLst>
          </a:custGeom>
          <a:blipFill rotWithShape="1">
            <a:blip r:embed="rId3">
              <a:alphaModFix/>
            </a:blip>
            <a:stretch>
              <a:fillRect b="0" l="0" r="0" t="0"/>
            </a:stretch>
          </a:blipFill>
          <a:ln>
            <a:noFill/>
          </a:ln>
        </p:spPr>
      </p:sp>
      <p:grpSp>
        <p:nvGrpSpPr>
          <p:cNvPr id="184" name="Google Shape;184;p7"/>
          <p:cNvGrpSpPr/>
          <p:nvPr/>
        </p:nvGrpSpPr>
        <p:grpSpPr>
          <a:xfrm rot="-2814084">
            <a:off x="-603769" y="6010385"/>
            <a:ext cx="3716898" cy="8874422"/>
            <a:chOff x="0" y="-38100"/>
            <a:chExt cx="1390652" cy="3320305"/>
          </a:xfrm>
        </p:grpSpPr>
        <p:sp>
          <p:nvSpPr>
            <p:cNvPr id="185" name="Google Shape;185;p7"/>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186" name="Google Shape;186;p7"/>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190" name="Shape 190"/>
        <p:cNvGrpSpPr/>
        <p:nvPr/>
      </p:nvGrpSpPr>
      <p:grpSpPr>
        <a:xfrm>
          <a:off x="0" y="0"/>
          <a:ext cx="0" cy="0"/>
          <a:chOff x="0" y="0"/>
          <a:chExt cx="0" cy="0"/>
        </a:xfrm>
      </p:grpSpPr>
      <p:sp>
        <p:nvSpPr>
          <p:cNvPr id="191" name="Google Shape;191;p8"/>
          <p:cNvSpPr/>
          <p:nvPr/>
        </p:nvSpPr>
        <p:spPr>
          <a:xfrm rot="6800474">
            <a:off x="9943552" y="4172986"/>
            <a:ext cx="11240987" cy="1953121"/>
          </a:xfrm>
          <a:custGeom>
            <a:rect b="b" l="l" r="r" t="t"/>
            <a:pathLst>
              <a:path extrusionOk="0" h="1953121" w="11240987">
                <a:moveTo>
                  <a:pt x="0" y="0"/>
                </a:moveTo>
                <a:lnTo>
                  <a:pt x="11240987" y="0"/>
                </a:lnTo>
                <a:lnTo>
                  <a:pt x="11240987" y="1953122"/>
                </a:lnTo>
                <a:lnTo>
                  <a:pt x="0" y="1953122"/>
                </a:lnTo>
                <a:lnTo>
                  <a:pt x="0" y="0"/>
                </a:lnTo>
                <a:close/>
              </a:path>
            </a:pathLst>
          </a:custGeom>
          <a:blipFill rotWithShape="1">
            <a:blip r:embed="rId3">
              <a:alphaModFix/>
            </a:blip>
            <a:stretch>
              <a:fillRect b="0" l="0" r="0" t="0"/>
            </a:stretch>
          </a:blipFill>
          <a:ln>
            <a:noFill/>
          </a:ln>
        </p:spPr>
      </p:sp>
      <p:grpSp>
        <p:nvGrpSpPr>
          <p:cNvPr id="192" name="Google Shape;192;p8"/>
          <p:cNvGrpSpPr/>
          <p:nvPr/>
        </p:nvGrpSpPr>
        <p:grpSpPr>
          <a:xfrm rot="-9392774">
            <a:off x="15085036" y="-491760"/>
            <a:ext cx="5280133" cy="12606782"/>
            <a:chOff x="0" y="-38100"/>
            <a:chExt cx="1390652" cy="3320305"/>
          </a:xfrm>
        </p:grpSpPr>
        <p:sp>
          <p:nvSpPr>
            <p:cNvPr id="193" name="Google Shape;193;p8"/>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363636"/>
            </a:solidFill>
            <a:ln>
              <a:noFill/>
            </a:ln>
          </p:spPr>
        </p:sp>
        <p:sp>
          <p:nvSpPr>
            <p:cNvPr id="194" name="Google Shape;194;p8"/>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5" name="Google Shape;195;p8"/>
          <p:cNvSpPr/>
          <p:nvPr/>
        </p:nvSpPr>
        <p:spPr>
          <a:xfrm rot="6800474">
            <a:off x="10925197" y="4294216"/>
            <a:ext cx="11240987" cy="1953121"/>
          </a:xfrm>
          <a:custGeom>
            <a:rect b="b" l="l" r="r" t="t"/>
            <a:pathLst>
              <a:path extrusionOk="0" h="1953121" w="11240987">
                <a:moveTo>
                  <a:pt x="0" y="0"/>
                </a:moveTo>
                <a:lnTo>
                  <a:pt x="11240987" y="0"/>
                </a:lnTo>
                <a:lnTo>
                  <a:pt x="11240987" y="1953121"/>
                </a:lnTo>
                <a:lnTo>
                  <a:pt x="0" y="1953121"/>
                </a:lnTo>
                <a:lnTo>
                  <a:pt x="0" y="0"/>
                </a:lnTo>
                <a:close/>
              </a:path>
            </a:pathLst>
          </a:custGeom>
          <a:blipFill rotWithShape="1">
            <a:blip r:embed="rId3">
              <a:alphaModFix/>
            </a:blip>
            <a:stretch>
              <a:fillRect b="0" l="0" r="0" t="0"/>
            </a:stretch>
          </a:blipFill>
          <a:ln>
            <a:noFill/>
          </a:ln>
        </p:spPr>
      </p:sp>
      <p:grpSp>
        <p:nvGrpSpPr>
          <p:cNvPr id="196" name="Google Shape;196;p8"/>
          <p:cNvGrpSpPr/>
          <p:nvPr/>
        </p:nvGrpSpPr>
        <p:grpSpPr>
          <a:xfrm rot="-9392774">
            <a:off x="16018708" y="-160066"/>
            <a:ext cx="5280133" cy="12606782"/>
            <a:chOff x="0" y="-38100"/>
            <a:chExt cx="1390652" cy="3320305"/>
          </a:xfrm>
        </p:grpSpPr>
        <p:sp>
          <p:nvSpPr>
            <p:cNvPr id="197" name="Google Shape;197;p8"/>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198" name="Google Shape;198;p8"/>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9" name="Google Shape;199;p8"/>
          <p:cNvSpPr txBox="1"/>
          <p:nvPr/>
        </p:nvSpPr>
        <p:spPr>
          <a:xfrm>
            <a:off x="484643" y="387358"/>
            <a:ext cx="15079403" cy="121600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FFFFFF"/>
                </a:solidFill>
                <a:latin typeface="League Spartan"/>
                <a:ea typeface="League Spartan"/>
                <a:cs typeface="League Spartan"/>
                <a:sym typeface="League Spartan"/>
              </a:rPr>
              <a:t>RESEARCH ON TRAJECTORY PLANNING OF AUTONOMOUS VEHICLES IN CONSTRAINED SPACES(2024)</a:t>
            </a:r>
            <a:endParaRPr/>
          </a:p>
        </p:txBody>
      </p:sp>
      <p:sp>
        <p:nvSpPr>
          <p:cNvPr id="200" name="Google Shape;200;p8"/>
          <p:cNvSpPr txBox="1"/>
          <p:nvPr/>
        </p:nvSpPr>
        <p:spPr>
          <a:xfrm>
            <a:off x="484643" y="2020273"/>
            <a:ext cx="13467851" cy="5541645"/>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FFFFFF"/>
                </a:solidFill>
                <a:latin typeface="Arial"/>
                <a:ea typeface="Arial"/>
                <a:cs typeface="Arial"/>
                <a:sym typeface="Arial"/>
              </a:rPr>
              <a:t>Authors: Yunlong Li, Gang Li, Xizheng Wang</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Journal: Sensors (MDPI)</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Brief:</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Improves Hybrid A* for narrow obstacle environments.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Problem:</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Standard planning causes jerky and inefficient paths.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Solution / Method:</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Adaptive node expansion and trajectory smoothing.</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Conclusion:</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Reduced expanded nodes and improved smoothness.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Relevance:</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Supports adaptive strategies for dense environments.</a:t>
            </a:r>
            <a:endParaRPr/>
          </a:p>
          <a:p>
            <a:pPr indent="0" lvl="0" marL="0" marR="0" rtl="0" algn="l">
              <a:lnSpc>
                <a:spcPct val="139958"/>
              </a:lnSpc>
              <a:spcBef>
                <a:spcPts val="0"/>
              </a:spcBef>
              <a:spcAft>
                <a:spcPts val="0"/>
              </a:spcAft>
              <a:buNone/>
            </a:pPr>
            <a:r>
              <a:t/>
            </a:r>
            <a:endParaRPr b="0" i="0" sz="2400" u="none" cap="none" strike="noStrike">
              <a:solidFill>
                <a:srgbClr val="FFFFFF"/>
              </a:solidFill>
              <a:latin typeface="Arial"/>
              <a:ea typeface="Arial"/>
              <a:cs typeface="Arial"/>
              <a:sym typeface="Arial"/>
            </a:endParaRPr>
          </a:p>
        </p:txBody>
      </p:sp>
      <p:cxnSp>
        <p:nvCxnSpPr>
          <p:cNvPr id="201" name="Google Shape;201;p8"/>
          <p:cNvCxnSpPr/>
          <p:nvPr/>
        </p:nvCxnSpPr>
        <p:spPr>
          <a:xfrm>
            <a:off x="484643" y="1603367"/>
            <a:ext cx="15022223"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205" name="Shape 205"/>
        <p:cNvGrpSpPr/>
        <p:nvPr/>
      </p:nvGrpSpPr>
      <p:grpSpPr>
        <a:xfrm>
          <a:off x="0" y="0"/>
          <a:ext cx="0" cy="0"/>
          <a:chOff x="0" y="0"/>
          <a:chExt cx="0" cy="0"/>
        </a:xfrm>
      </p:grpSpPr>
      <p:sp>
        <p:nvSpPr>
          <p:cNvPr id="206" name="Google Shape;206;p9"/>
          <p:cNvSpPr txBox="1"/>
          <p:nvPr/>
        </p:nvSpPr>
        <p:spPr>
          <a:xfrm>
            <a:off x="1359062" y="101600"/>
            <a:ext cx="15584989" cy="12160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500" u="none" cap="none" strike="noStrike">
                <a:solidFill>
                  <a:srgbClr val="FFFFFF"/>
                </a:solidFill>
                <a:latin typeface="League Spartan"/>
                <a:ea typeface="League Spartan"/>
                <a:cs typeface="League Spartan"/>
                <a:sym typeface="League Spartan"/>
              </a:rPr>
              <a:t>IMPROVED PATH PLANNING ALGORITHMS FOR NON-HOLONOMIC AUTONOMOUS VEHICLES(2023)</a:t>
            </a:r>
            <a:endParaRPr/>
          </a:p>
        </p:txBody>
      </p:sp>
      <p:sp>
        <p:nvSpPr>
          <p:cNvPr id="207" name="Google Shape;207;p9"/>
          <p:cNvSpPr txBox="1"/>
          <p:nvPr/>
        </p:nvSpPr>
        <p:spPr>
          <a:xfrm>
            <a:off x="1366618" y="1725930"/>
            <a:ext cx="15577433" cy="606552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FFFFFF"/>
                </a:solidFill>
                <a:latin typeface="Arial"/>
                <a:ea typeface="Arial"/>
                <a:cs typeface="Arial"/>
                <a:sym typeface="Arial"/>
              </a:rPr>
              <a:t>Authors: Alessandro Bonetti, Simone Guidetti, Lorenzo Sabattini</a:t>
            </a:r>
            <a:endParaRPr/>
          </a:p>
          <a:p>
            <a:pPr indent="0" lvl="0" marL="0" marR="0" rtl="0" algn="ctr">
              <a:lnSpc>
                <a:spcPct val="140013"/>
              </a:lnSpc>
              <a:spcBef>
                <a:spcPts val="0"/>
              </a:spcBef>
              <a:spcAft>
                <a:spcPts val="0"/>
              </a:spcAft>
              <a:buNone/>
            </a:pPr>
            <a:r>
              <a:t/>
            </a:r>
            <a:endParaRPr b="1" i="0" sz="2999" u="none" cap="none" strike="noStrike">
              <a:solidFill>
                <a:srgbClr val="FFFFFF"/>
              </a:solidFill>
              <a:latin typeface="Arial"/>
              <a:ea typeface="Arial"/>
              <a:cs typeface="Arial"/>
              <a:sym typeface="Arial"/>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Journal: arXiv (Computer Science - Robotics)</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Brief:</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Introduces Roadmap Hybrid A* and Waypoint Hybrid A*.</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Problem:</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Hybrid A* struggles in constrained industrial environments.</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Solution:</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Environment partitioning and waypoint guidance.</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Conclusion:</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40% faster performance compared to baseline.</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Relevance:</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Reinforces importance of environment-aware planning.</a:t>
            </a:r>
            <a:endParaRPr/>
          </a:p>
          <a:p>
            <a:pPr indent="0" lvl="0" marL="0" marR="0" rtl="0" algn="ctr">
              <a:lnSpc>
                <a:spcPct val="139958"/>
              </a:lnSpc>
              <a:spcBef>
                <a:spcPts val="0"/>
              </a:spcBef>
              <a:spcAft>
                <a:spcPts val="0"/>
              </a:spcAft>
              <a:buNone/>
            </a:pPr>
            <a:r>
              <a:t/>
            </a:r>
            <a:endParaRPr b="0" i="0" sz="2400" u="none" cap="none" strike="noStrike">
              <a:solidFill>
                <a:srgbClr val="FFFFFF"/>
              </a:solidFill>
              <a:latin typeface="Arial"/>
              <a:ea typeface="Arial"/>
              <a:cs typeface="Arial"/>
              <a:sym typeface="Arial"/>
            </a:endParaRPr>
          </a:p>
        </p:txBody>
      </p:sp>
      <p:cxnSp>
        <p:nvCxnSpPr>
          <p:cNvPr id="208" name="Google Shape;208;p9"/>
          <p:cNvCxnSpPr/>
          <p:nvPr/>
        </p:nvCxnSpPr>
        <p:spPr>
          <a:xfrm>
            <a:off x="1316252" y="1622425"/>
            <a:ext cx="15620242" cy="0"/>
          </a:xfrm>
          <a:prstGeom prst="straightConnector1">
            <a:avLst/>
          </a:prstGeom>
          <a:noFill/>
          <a:ln cap="flat" cmpd="sng" w="38100">
            <a:solidFill>
              <a:srgbClr val="FFFFFF"/>
            </a:solidFill>
            <a:prstDash val="solid"/>
            <a:round/>
            <a:headEnd len="sm" w="sm" type="none"/>
            <a:tailEnd len="sm" w="sm" type="none"/>
          </a:ln>
        </p:spPr>
      </p:cxnSp>
      <p:sp>
        <p:nvSpPr>
          <p:cNvPr id="209" name="Google Shape;209;p9"/>
          <p:cNvSpPr/>
          <p:nvPr/>
        </p:nvSpPr>
        <p:spPr>
          <a:xfrm rot="-8220834">
            <a:off x="-1555018" y="7441243"/>
            <a:ext cx="7912983" cy="1374881"/>
          </a:xfrm>
          <a:custGeom>
            <a:rect b="b" l="l" r="r" t="t"/>
            <a:pathLst>
              <a:path extrusionOk="0" h="1374881" w="7912983">
                <a:moveTo>
                  <a:pt x="0" y="0"/>
                </a:moveTo>
                <a:lnTo>
                  <a:pt x="7912983" y="0"/>
                </a:lnTo>
                <a:lnTo>
                  <a:pt x="7912983" y="1374880"/>
                </a:lnTo>
                <a:lnTo>
                  <a:pt x="0" y="1374880"/>
                </a:lnTo>
                <a:lnTo>
                  <a:pt x="0" y="0"/>
                </a:lnTo>
                <a:close/>
              </a:path>
            </a:pathLst>
          </a:custGeom>
          <a:blipFill rotWithShape="1">
            <a:blip r:embed="rId3">
              <a:alphaModFix/>
            </a:blip>
            <a:stretch>
              <a:fillRect b="0" l="0" r="0" t="0"/>
            </a:stretch>
          </a:blipFill>
          <a:ln>
            <a:noFill/>
          </a:ln>
        </p:spPr>
      </p:sp>
      <p:grpSp>
        <p:nvGrpSpPr>
          <p:cNvPr id="210" name="Google Shape;210;p9"/>
          <p:cNvGrpSpPr/>
          <p:nvPr/>
        </p:nvGrpSpPr>
        <p:grpSpPr>
          <a:xfrm rot="-2814084">
            <a:off x="-125299" y="5815001"/>
            <a:ext cx="3716898" cy="8874422"/>
            <a:chOff x="0" y="-38100"/>
            <a:chExt cx="1390652" cy="3320305"/>
          </a:xfrm>
        </p:grpSpPr>
        <p:sp>
          <p:nvSpPr>
            <p:cNvPr id="211" name="Google Shape;211;p9"/>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212" name="Google Shape;212;p9"/>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3" name="Google Shape;213;p9"/>
          <p:cNvSpPr/>
          <p:nvPr/>
        </p:nvSpPr>
        <p:spPr>
          <a:xfrm rot="-8220834">
            <a:off x="-1289634" y="8570860"/>
            <a:ext cx="7912983" cy="1374881"/>
          </a:xfrm>
          <a:custGeom>
            <a:rect b="b" l="l" r="r" t="t"/>
            <a:pathLst>
              <a:path extrusionOk="0" h="1374881" w="7912983">
                <a:moveTo>
                  <a:pt x="0" y="0"/>
                </a:moveTo>
                <a:lnTo>
                  <a:pt x="7912984" y="0"/>
                </a:lnTo>
                <a:lnTo>
                  <a:pt x="7912984" y="1374880"/>
                </a:lnTo>
                <a:lnTo>
                  <a:pt x="0" y="1374880"/>
                </a:lnTo>
                <a:lnTo>
                  <a:pt x="0" y="0"/>
                </a:lnTo>
                <a:close/>
              </a:path>
            </a:pathLst>
          </a:custGeom>
          <a:blipFill rotWithShape="1">
            <a:blip r:embed="rId3">
              <a:alphaModFix/>
            </a:blip>
            <a:stretch>
              <a:fillRect b="0" l="0" r="0" t="0"/>
            </a:stretch>
          </a:blipFill>
          <a:ln>
            <a:noFill/>
          </a:ln>
        </p:spPr>
      </p:sp>
      <p:grpSp>
        <p:nvGrpSpPr>
          <p:cNvPr id="214" name="Google Shape;214;p9"/>
          <p:cNvGrpSpPr/>
          <p:nvPr/>
        </p:nvGrpSpPr>
        <p:grpSpPr>
          <a:xfrm rot="-2814084">
            <a:off x="-603769" y="6010385"/>
            <a:ext cx="3716898" cy="8874422"/>
            <a:chOff x="0" y="-38100"/>
            <a:chExt cx="1390652" cy="3320305"/>
          </a:xfrm>
        </p:grpSpPr>
        <p:sp>
          <p:nvSpPr>
            <p:cNvPr id="215" name="Google Shape;215;p9"/>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216" name="Google Shape;216;p9"/>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220" name="Shape 220"/>
        <p:cNvGrpSpPr/>
        <p:nvPr/>
      </p:nvGrpSpPr>
      <p:grpSpPr>
        <a:xfrm>
          <a:off x="0" y="0"/>
          <a:ext cx="0" cy="0"/>
          <a:chOff x="0" y="0"/>
          <a:chExt cx="0" cy="0"/>
        </a:xfrm>
      </p:grpSpPr>
      <p:sp>
        <p:nvSpPr>
          <p:cNvPr id="221" name="Google Shape;221;p10"/>
          <p:cNvSpPr/>
          <p:nvPr/>
        </p:nvSpPr>
        <p:spPr>
          <a:xfrm rot="6800474">
            <a:off x="9943552" y="4172986"/>
            <a:ext cx="11240987" cy="1953121"/>
          </a:xfrm>
          <a:custGeom>
            <a:rect b="b" l="l" r="r" t="t"/>
            <a:pathLst>
              <a:path extrusionOk="0" h="1953121" w="11240987">
                <a:moveTo>
                  <a:pt x="0" y="0"/>
                </a:moveTo>
                <a:lnTo>
                  <a:pt x="11240987" y="0"/>
                </a:lnTo>
                <a:lnTo>
                  <a:pt x="11240987" y="1953122"/>
                </a:lnTo>
                <a:lnTo>
                  <a:pt x="0" y="1953122"/>
                </a:lnTo>
                <a:lnTo>
                  <a:pt x="0" y="0"/>
                </a:lnTo>
                <a:close/>
              </a:path>
            </a:pathLst>
          </a:custGeom>
          <a:blipFill rotWithShape="1">
            <a:blip r:embed="rId3">
              <a:alphaModFix/>
            </a:blip>
            <a:stretch>
              <a:fillRect b="0" l="0" r="0" t="0"/>
            </a:stretch>
          </a:blipFill>
          <a:ln>
            <a:noFill/>
          </a:ln>
        </p:spPr>
      </p:sp>
      <p:grpSp>
        <p:nvGrpSpPr>
          <p:cNvPr id="222" name="Google Shape;222;p10"/>
          <p:cNvGrpSpPr/>
          <p:nvPr/>
        </p:nvGrpSpPr>
        <p:grpSpPr>
          <a:xfrm rot="-9392774">
            <a:off x="15085036" y="-491760"/>
            <a:ext cx="5280133" cy="12606782"/>
            <a:chOff x="0" y="-38100"/>
            <a:chExt cx="1390652" cy="3320305"/>
          </a:xfrm>
        </p:grpSpPr>
        <p:sp>
          <p:nvSpPr>
            <p:cNvPr id="223" name="Google Shape;223;p10"/>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363636"/>
            </a:solidFill>
            <a:ln>
              <a:noFill/>
            </a:ln>
          </p:spPr>
        </p:sp>
        <p:sp>
          <p:nvSpPr>
            <p:cNvPr id="224" name="Google Shape;224;p10"/>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5" name="Google Shape;225;p10"/>
          <p:cNvSpPr/>
          <p:nvPr/>
        </p:nvSpPr>
        <p:spPr>
          <a:xfrm rot="6800474">
            <a:off x="10925197" y="4294216"/>
            <a:ext cx="11240987" cy="1953121"/>
          </a:xfrm>
          <a:custGeom>
            <a:rect b="b" l="l" r="r" t="t"/>
            <a:pathLst>
              <a:path extrusionOk="0" h="1953121" w="11240987">
                <a:moveTo>
                  <a:pt x="0" y="0"/>
                </a:moveTo>
                <a:lnTo>
                  <a:pt x="11240987" y="0"/>
                </a:lnTo>
                <a:lnTo>
                  <a:pt x="11240987" y="1953121"/>
                </a:lnTo>
                <a:lnTo>
                  <a:pt x="0" y="1953121"/>
                </a:lnTo>
                <a:lnTo>
                  <a:pt x="0" y="0"/>
                </a:lnTo>
                <a:close/>
              </a:path>
            </a:pathLst>
          </a:custGeom>
          <a:blipFill rotWithShape="1">
            <a:blip r:embed="rId3">
              <a:alphaModFix/>
            </a:blip>
            <a:stretch>
              <a:fillRect b="0" l="0" r="0" t="0"/>
            </a:stretch>
          </a:blipFill>
          <a:ln>
            <a:noFill/>
          </a:ln>
        </p:spPr>
      </p:sp>
      <p:grpSp>
        <p:nvGrpSpPr>
          <p:cNvPr id="226" name="Google Shape;226;p10"/>
          <p:cNvGrpSpPr/>
          <p:nvPr/>
        </p:nvGrpSpPr>
        <p:grpSpPr>
          <a:xfrm rot="-9392774">
            <a:off x="16018708" y="-160066"/>
            <a:ext cx="5280133" cy="12606782"/>
            <a:chOff x="0" y="-38100"/>
            <a:chExt cx="1390652" cy="3320305"/>
          </a:xfrm>
        </p:grpSpPr>
        <p:sp>
          <p:nvSpPr>
            <p:cNvPr id="227" name="Google Shape;227;p10"/>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228" name="Google Shape;228;p10"/>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9" name="Google Shape;229;p10"/>
          <p:cNvSpPr txBox="1"/>
          <p:nvPr/>
        </p:nvSpPr>
        <p:spPr>
          <a:xfrm>
            <a:off x="484643" y="387358"/>
            <a:ext cx="15079403" cy="121600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FFFFFF"/>
                </a:solidFill>
                <a:latin typeface="League Spartan"/>
                <a:ea typeface="League Spartan"/>
                <a:cs typeface="League Spartan"/>
                <a:sym typeface="League Spartan"/>
              </a:rPr>
              <a:t>PATH PLANNING ALGORITHMS IN THE AUTONOMOUS DRIVING SYSTEM(2024)</a:t>
            </a:r>
            <a:endParaRPr/>
          </a:p>
        </p:txBody>
      </p:sp>
      <p:sp>
        <p:nvSpPr>
          <p:cNvPr id="230" name="Google Shape;230;p10"/>
          <p:cNvSpPr txBox="1"/>
          <p:nvPr/>
        </p:nvSpPr>
        <p:spPr>
          <a:xfrm>
            <a:off x="484643" y="2020273"/>
            <a:ext cx="13467851" cy="606552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FFFFFF"/>
                </a:solidFill>
                <a:latin typeface="Arial"/>
                <a:ea typeface="Arial"/>
                <a:cs typeface="Arial"/>
                <a:sym typeface="Arial"/>
              </a:rPr>
              <a:t>Authors: Mohamed Reda, Ahmed Onsy, Amira Y. Haikal, Ali Ghanbari</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Journal: Robotics and Autonomous Systems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Brief:</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Survey paper classifying modern path planning methods.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Problem:</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Diverse algorithms make selection difficult.</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Solution / Method:</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Structured taxonomy of classical and AI-based planners.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Conclusion:</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Hybrid and adaptive methods are future direction.</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Relevance:</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Supports adaptive heuristic development trend.</a:t>
            </a:r>
            <a:endParaRPr/>
          </a:p>
          <a:p>
            <a:pPr indent="0" lvl="0" marL="0" marR="0" rtl="0" algn="l">
              <a:lnSpc>
                <a:spcPct val="139958"/>
              </a:lnSpc>
              <a:spcBef>
                <a:spcPts val="0"/>
              </a:spcBef>
              <a:spcAft>
                <a:spcPts val="0"/>
              </a:spcAft>
              <a:buNone/>
            </a:pPr>
            <a:r>
              <a:t/>
            </a:r>
            <a:endParaRPr b="0" i="0" sz="2400" u="none" cap="none" strike="noStrike">
              <a:solidFill>
                <a:srgbClr val="FFFFFF"/>
              </a:solidFill>
              <a:latin typeface="Arial"/>
              <a:ea typeface="Arial"/>
              <a:cs typeface="Arial"/>
              <a:sym typeface="Arial"/>
            </a:endParaRPr>
          </a:p>
        </p:txBody>
      </p:sp>
      <p:cxnSp>
        <p:nvCxnSpPr>
          <p:cNvPr id="231" name="Google Shape;231;p10"/>
          <p:cNvCxnSpPr/>
          <p:nvPr/>
        </p:nvCxnSpPr>
        <p:spPr>
          <a:xfrm>
            <a:off x="484643" y="1603367"/>
            <a:ext cx="15022223"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235" name="Shape 235"/>
        <p:cNvGrpSpPr/>
        <p:nvPr/>
      </p:nvGrpSpPr>
      <p:grpSpPr>
        <a:xfrm>
          <a:off x="0" y="0"/>
          <a:ext cx="0" cy="0"/>
          <a:chOff x="0" y="0"/>
          <a:chExt cx="0" cy="0"/>
        </a:xfrm>
      </p:grpSpPr>
      <p:sp>
        <p:nvSpPr>
          <p:cNvPr id="236" name="Google Shape;236;p11"/>
          <p:cNvSpPr txBox="1"/>
          <p:nvPr/>
        </p:nvSpPr>
        <p:spPr>
          <a:xfrm>
            <a:off x="1359062" y="101600"/>
            <a:ext cx="15584989" cy="12160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500" u="none" cap="none" strike="noStrike">
                <a:solidFill>
                  <a:srgbClr val="FFFFFF"/>
                </a:solidFill>
                <a:latin typeface="League Spartan"/>
                <a:ea typeface="League Spartan"/>
                <a:cs typeface="League Spartan"/>
                <a:sym typeface="League Spartan"/>
              </a:rPr>
              <a:t>BENCHMARKING OF ALGORITHM EFFICIENCY IN SOLVING ELEMENT MAZE(2025)</a:t>
            </a:r>
            <a:endParaRPr/>
          </a:p>
        </p:txBody>
      </p:sp>
      <p:sp>
        <p:nvSpPr>
          <p:cNvPr id="237" name="Google Shape;237;p11"/>
          <p:cNvSpPr txBox="1"/>
          <p:nvPr/>
        </p:nvSpPr>
        <p:spPr>
          <a:xfrm>
            <a:off x="1366618" y="1725930"/>
            <a:ext cx="15577433" cy="6589395"/>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FFFFFF"/>
                </a:solidFill>
                <a:latin typeface="Arial"/>
                <a:ea typeface="Arial"/>
                <a:cs typeface="Arial"/>
                <a:sym typeface="Arial"/>
              </a:rPr>
              <a:t>Authors: Prof. Ashwini Tekale (Guide), under the JSPM Narhe Technical Campus</a:t>
            </a:r>
            <a:endParaRPr/>
          </a:p>
          <a:p>
            <a:pPr indent="0" lvl="0" marL="0" marR="0" rtl="0" algn="ctr">
              <a:lnSpc>
                <a:spcPct val="140013"/>
              </a:lnSpc>
              <a:spcBef>
                <a:spcPts val="0"/>
              </a:spcBef>
              <a:spcAft>
                <a:spcPts val="0"/>
              </a:spcAft>
              <a:buNone/>
            </a:pPr>
            <a:r>
              <a:t/>
            </a:r>
            <a:endParaRPr b="1" i="0" sz="2999" u="none" cap="none" strike="noStrike">
              <a:solidFill>
                <a:srgbClr val="FFFFFF"/>
              </a:solidFill>
              <a:latin typeface="Arial"/>
              <a:ea typeface="Arial"/>
              <a:cs typeface="Arial"/>
              <a:sym typeface="Arial"/>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Journal: Journal of Advance and Future Research</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Brief:</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Compares multiple algorithms in maze environments.</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Problem:</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Lack of systematic performance comparison.</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Solution:</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Benchmarking A*, BFS, DFS and others.</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Conclusion:</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A* performs best when heuristic is properly chosen.</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Relevance:</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Encourages our performance comparison dashboard.</a:t>
            </a:r>
            <a:endParaRPr/>
          </a:p>
          <a:p>
            <a:pPr indent="0" lvl="0" marL="0" marR="0" rtl="0" algn="ctr">
              <a:lnSpc>
                <a:spcPct val="139958"/>
              </a:lnSpc>
              <a:spcBef>
                <a:spcPts val="0"/>
              </a:spcBef>
              <a:spcAft>
                <a:spcPts val="0"/>
              </a:spcAft>
              <a:buNone/>
            </a:pPr>
            <a:r>
              <a:t/>
            </a:r>
            <a:endParaRPr b="0" i="0" sz="2400" u="none" cap="none" strike="noStrike">
              <a:solidFill>
                <a:srgbClr val="FFFFFF"/>
              </a:solidFill>
              <a:latin typeface="Arial"/>
              <a:ea typeface="Arial"/>
              <a:cs typeface="Arial"/>
              <a:sym typeface="Arial"/>
            </a:endParaRPr>
          </a:p>
        </p:txBody>
      </p:sp>
      <p:cxnSp>
        <p:nvCxnSpPr>
          <p:cNvPr id="238" name="Google Shape;238;p11"/>
          <p:cNvCxnSpPr/>
          <p:nvPr/>
        </p:nvCxnSpPr>
        <p:spPr>
          <a:xfrm>
            <a:off x="1316252" y="1622425"/>
            <a:ext cx="15620242" cy="0"/>
          </a:xfrm>
          <a:prstGeom prst="straightConnector1">
            <a:avLst/>
          </a:prstGeom>
          <a:noFill/>
          <a:ln cap="flat" cmpd="sng" w="38100">
            <a:solidFill>
              <a:srgbClr val="FFFFFF"/>
            </a:solidFill>
            <a:prstDash val="solid"/>
            <a:round/>
            <a:headEnd len="sm" w="sm" type="none"/>
            <a:tailEnd len="sm" w="sm" type="none"/>
          </a:ln>
        </p:spPr>
      </p:cxnSp>
      <p:sp>
        <p:nvSpPr>
          <p:cNvPr id="239" name="Google Shape;239;p11"/>
          <p:cNvSpPr/>
          <p:nvPr/>
        </p:nvSpPr>
        <p:spPr>
          <a:xfrm rot="-8220834">
            <a:off x="-1555018" y="7441243"/>
            <a:ext cx="7912983" cy="1374881"/>
          </a:xfrm>
          <a:custGeom>
            <a:rect b="b" l="l" r="r" t="t"/>
            <a:pathLst>
              <a:path extrusionOk="0" h="1374881" w="7912983">
                <a:moveTo>
                  <a:pt x="0" y="0"/>
                </a:moveTo>
                <a:lnTo>
                  <a:pt x="7912983" y="0"/>
                </a:lnTo>
                <a:lnTo>
                  <a:pt x="7912983" y="1374880"/>
                </a:lnTo>
                <a:lnTo>
                  <a:pt x="0" y="1374880"/>
                </a:lnTo>
                <a:lnTo>
                  <a:pt x="0" y="0"/>
                </a:lnTo>
                <a:close/>
              </a:path>
            </a:pathLst>
          </a:custGeom>
          <a:blipFill rotWithShape="1">
            <a:blip r:embed="rId3">
              <a:alphaModFix/>
            </a:blip>
            <a:stretch>
              <a:fillRect b="0" l="0" r="0" t="0"/>
            </a:stretch>
          </a:blipFill>
          <a:ln>
            <a:noFill/>
          </a:ln>
        </p:spPr>
      </p:sp>
      <p:grpSp>
        <p:nvGrpSpPr>
          <p:cNvPr id="240" name="Google Shape;240;p11"/>
          <p:cNvGrpSpPr/>
          <p:nvPr/>
        </p:nvGrpSpPr>
        <p:grpSpPr>
          <a:xfrm rot="-2814084">
            <a:off x="-125299" y="5815001"/>
            <a:ext cx="3716898" cy="8874422"/>
            <a:chOff x="0" y="-38100"/>
            <a:chExt cx="1390652" cy="3320305"/>
          </a:xfrm>
        </p:grpSpPr>
        <p:sp>
          <p:nvSpPr>
            <p:cNvPr id="241" name="Google Shape;241;p11"/>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242" name="Google Shape;242;p11"/>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3" name="Google Shape;243;p11"/>
          <p:cNvSpPr/>
          <p:nvPr/>
        </p:nvSpPr>
        <p:spPr>
          <a:xfrm rot="-8220834">
            <a:off x="-1289634" y="8570860"/>
            <a:ext cx="7912983" cy="1374881"/>
          </a:xfrm>
          <a:custGeom>
            <a:rect b="b" l="l" r="r" t="t"/>
            <a:pathLst>
              <a:path extrusionOk="0" h="1374881" w="7912983">
                <a:moveTo>
                  <a:pt x="0" y="0"/>
                </a:moveTo>
                <a:lnTo>
                  <a:pt x="7912984" y="0"/>
                </a:lnTo>
                <a:lnTo>
                  <a:pt x="7912984" y="1374880"/>
                </a:lnTo>
                <a:lnTo>
                  <a:pt x="0" y="1374880"/>
                </a:lnTo>
                <a:lnTo>
                  <a:pt x="0" y="0"/>
                </a:lnTo>
                <a:close/>
              </a:path>
            </a:pathLst>
          </a:custGeom>
          <a:blipFill rotWithShape="1">
            <a:blip r:embed="rId3">
              <a:alphaModFix/>
            </a:blip>
            <a:stretch>
              <a:fillRect b="0" l="0" r="0" t="0"/>
            </a:stretch>
          </a:blipFill>
          <a:ln>
            <a:noFill/>
          </a:ln>
        </p:spPr>
      </p:sp>
      <p:grpSp>
        <p:nvGrpSpPr>
          <p:cNvPr id="244" name="Google Shape;244;p11"/>
          <p:cNvGrpSpPr/>
          <p:nvPr/>
        </p:nvGrpSpPr>
        <p:grpSpPr>
          <a:xfrm rot="-2814084">
            <a:off x="-603769" y="6010385"/>
            <a:ext cx="3716898" cy="8874422"/>
            <a:chOff x="0" y="-38100"/>
            <a:chExt cx="1390652" cy="3320305"/>
          </a:xfrm>
        </p:grpSpPr>
        <p:sp>
          <p:nvSpPr>
            <p:cNvPr id="245" name="Google Shape;245;p11"/>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246" name="Google Shape;246;p11"/>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250" name="Shape 250"/>
        <p:cNvGrpSpPr/>
        <p:nvPr/>
      </p:nvGrpSpPr>
      <p:grpSpPr>
        <a:xfrm>
          <a:off x="0" y="0"/>
          <a:ext cx="0" cy="0"/>
          <a:chOff x="0" y="0"/>
          <a:chExt cx="0" cy="0"/>
        </a:xfrm>
      </p:grpSpPr>
      <p:sp>
        <p:nvSpPr>
          <p:cNvPr id="251" name="Google Shape;251;p12"/>
          <p:cNvSpPr/>
          <p:nvPr/>
        </p:nvSpPr>
        <p:spPr>
          <a:xfrm rot="6800474">
            <a:off x="9943552" y="4172986"/>
            <a:ext cx="11240987" cy="1953121"/>
          </a:xfrm>
          <a:custGeom>
            <a:rect b="b" l="l" r="r" t="t"/>
            <a:pathLst>
              <a:path extrusionOk="0" h="1953121" w="11240987">
                <a:moveTo>
                  <a:pt x="0" y="0"/>
                </a:moveTo>
                <a:lnTo>
                  <a:pt x="11240987" y="0"/>
                </a:lnTo>
                <a:lnTo>
                  <a:pt x="11240987" y="1953122"/>
                </a:lnTo>
                <a:lnTo>
                  <a:pt x="0" y="1953122"/>
                </a:lnTo>
                <a:lnTo>
                  <a:pt x="0" y="0"/>
                </a:lnTo>
                <a:close/>
              </a:path>
            </a:pathLst>
          </a:custGeom>
          <a:blipFill rotWithShape="1">
            <a:blip r:embed="rId3">
              <a:alphaModFix/>
            </a:blip>
            <a:stretch>
              <a:fillRect b="0" l="0" r="0" t="0"/>
            </a:stretch>
          </a:blipFill>
          <a:ln>
            <a:noFill/>
          </a:ln>
        </p:spPr>
      </p:sp>
      <p:grpSp>
        <p:nvGrpSpPr>
          <p:cNvPr id="252" name="Google Shape;252;p12"/>
          <p:cNvGrpSpPr/>
          <p:nvPr/>
        </p:nvGrpSpPr>
        <p:grpSpPr>
          <a:xfrm rot="-9392774">
            <a:off x="15085036" y="-491760"/>
            <a:ext cx="5280133" cy="12606782"/>
            <a:chOff x="0" y="-38100"/>
            <a:chExt cx="1390652" cy="3320305"/>
          </a:xfrm>
        </p:grpSpPr>
        <p:sp>
          <p:nvSpPr>
            <p:cNvPr id="253" name="Google Shape;253;p12"/>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363636"/>
            </a:solidFill>
            <a:ln>
              <a:noFill/>
            </a:ln>
          </p:spPr>
        </p:sp>
        <p:sp>
          <p:nvSpPr>
            <p:cNvPr id="254" name="Google Shape;254;p12"/>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5" name="Google Shape;255;p12"/>
          <p:cNvSpPr/>
          <p:nvPr/>
        </p:nvSpPr>
        <p:spPr>
          <a:xfrm rot="6800474">
            <a:off x="10925197" y="4294216"/>
            <a:ext cx="11240987" cy="1953121"/>
          </a:xfrm>
          <a:custGeom>
            <a:rect b="b" l="l" r="r" t="t"/>
            <a:pathLst>
              <a:path extrusionOk="0" h="1953121" w="11240987">
                <a:moveTo>
                  <a:pt x="0" y="0"/>
                </a:moveTo>
                <a:lnTo>
                  <a:pt x="11240987" y="0"/>
                </a:lnTo>
                <a:lnTo>
                  <a:pt x="11240987" y="1953121"/>
                </a:lnTo>
                <a:lnTo>
                  <a:pt x="0" y="1953121"/>
                </a:lnTo>
                <a:lnTo>
                  <a:pt x="0" y="0"/>
                </a:lnTo>
                <a:close/>
              </a:path>
            </a:pathLst>
          </a:custGeom>
          <a:blipFill rotWithShape="1">
            <a:blip r:embed="rId3">
              <a:alphaModFix/>
            </a:blip>
            <a:stretch>
              <a:fillRect b="0" l="0" r="0" t="0"/>
            </a:stretch>
          </a:blipFill>
          <a:ln>
            <a:noFill/>
          </a:ln>
        </p:spPr>
      </p:sp>
      <p:grpSp>
        <p:nvGrpSpPr>
          <p:cNvPr id="256" name="Google Shape;256;p12"/>
          <p:cNvGrpSpPr/>
          <p:nvPr/>
        </p:nvGrpSpPr>
        <p:grpSpPr>
          <a:xfrm rot="-9392774">
            <a:off x="16018708" y="-160066"/>
            <a:ext cx="5280133" cy="12606782"/>
            <a:chOff x="0" y="-38100"/>
            <a:chExt cx="1390652" cy="3320305"/>
          </a:xfrm>
        </p:grpSpPr>
        <p:sp>
          <p:nvSpPr>
            <p:cNvPr id="257" name="Google Shape;257;p12"/>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258" name="Google Shape;258;p12"/>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9" name="Google Shape;259;p12"/>
          <p:cNvSpPr txBox="1"/>
          <p:nvPr/>
        </p:nvSpPr>
        <p:spPr>
          <a:xfrm>
            <a:off x="484643" y="387358"/>
            <a:ext cx="15079403" cy="121600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FFFFFF"/>
                </a:solidFill>
                <a:latin typeface="League Spartan"/>
                <a:ea typeface="League Spartan"/>
                <a:cs typeface="League Spartan"/>
                <a:sym typeface="League Spartan"/>
              </a:rPr>
              <a:t>RESEARCH ON PATH PLANNING FOR ROBOTS WITH IMPROVED A* ALGORITHM UNDER BIDIRECTIONAL JPS STRATEGY(2024)</a:t>
            </a:r>
            <a:endParaRPr/>
          </a:p>
        </p:txBody>
      </p:sp>
      <p:sp>
        <p:nvSpPr>
          <p:cNvPr id="260" name="Google Shape;260;p12"/>
          <p:cNvSpPr txBox="1"/>
          <p:nvPr/>
        </p:nvSpPr>
        <p:spPr>
          <a:xfrm>
            <a:off x="484643" y="2020273"/>
            <a:ext cx="13467851" cy="606552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FFFFFF"/>
                </a:solidFill>
                <a:latin typeface="Arial"/>
                <a:ea typeface="Arial"/>
                <a:cs typeface="Arial"/>
                <a:sym typeface="Arial"/>
              </a:rPr>
              <a:t>Authors: Fujie Wang, Wei Sun, Pengfei Yan, Hongmei Wei, Huishan Lu</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Journal: Applied Sciences (Scopus indexed)</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Brief:</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Improves A* using bidirectional JPS and adaptive weighting.</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Problem:</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Excessive node expansions in large grids.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Solution / Method:</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Octile heuristic + bidirectional search.</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Conclusion:</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Up to 79% reduction in search time.</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Relevance:</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Direct inspiration for adaptive weighting concept.</a:t>
            </a:r>
            <a:endParaRPr/>
          </a:p>
          <a:p>
            <a:pPr indent="0" lvl="0" marL="0" marR="0" rtl="0" algn="l">
              <a:lnSpc>
                <a:spcPct val="139958"/>
              </a:lnSpc>
              <a:spcBef>
                <a:spcPts val="0"/>
              </a:spcBef>
              <a:spcAft>
                <a:spcPts val="0"/>
              </a:spcAft>
              <a:buNone/>
            </a:pPr>
            <a:r>
              <a:t/>
            </a:r>
            <a:endParaRPr b="0" i="0" sz="2400" u="none" cap="none" strike="noStrike">
              <a:solidFill>
                <a:srgbClr val="FFFFFF"/>
              </a:solidFill>
              <a:latin typeface="Arial"/>
              <a:ea typeface="Arial"/>
              <a:cs typeface="Arial"/>
              <a:sym typeface="Arial"/>
            </a:endParaRPr>
          </a:p>
        </p:txBody>
      </p:sp>
      <p:cxnSp>
        <p:nvCxnSpPr>
          <p:cNvPr id="261" name="Google Shape;261;p12"/>
          <p:cNvCxnSpPr/>
          <p:nvPr/>
        </p:nvCxnSpPr>
        <p:spPr>
          <a:xfrm>
            <a:off x="484643" y="1603367"/>
            <a:ext cx="15022223"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265" name="Shape 265"/>
        <p:cNvGrpSpPr/>
        <p:nvPr/>
      </p:nvGrpSpPr>
      <p:grpSpPr>
        <a:xfrm>
          <a:off x="0" y="0"/>
          <a:ext cx="0" cy="0"/>
          <a:chOff x="0" y="0"/>
          <a:chExt cx="0" cy="0"/>
        </a:xfrm>
      </p:grpSpPr>
      <p:sp>
        <p:nvSpPr>
          <p:cNvPr id="266" name="Google Shape;266;p13"/>
          <p:cNvSpPr txBox="1"/>
          <p:nvPr/>
        </p:nvSpPr>
        <p:spPr>
          <a:xfrm>
            <a:off x="1359062" y="101600"/>
            <a:ext cx="15584989" cy="12160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500" u="none" cap="none" strike="noStrike">
                <a:solidFill>
                  <a:srgbClr val="FFFFFF"/>
                </a:solidFill>
                <a:latin typeface="League Spartan"/>
                <a:ea typeface="League Spartan"/>
                <a:cs typeface="League Spartan"/>
                <a:sym typeface="League Spartan"/>
              </a:rPr>
              <a:t>MULTI-OBJECTIVE A* PATH PLANNING WITH DEEP LEARNING HEURISTIC GUIDANCE(2021)</a:t>
            </a:r>
            <a:endParaRPr/>
          </a:p>
        </p:txBody>
      </p:sp>
      <p:sp>
        <p:nvSpPr>
          <p:cNvPr id="267" name="Google Shape;267;p13"/>
          <p:cNvSpPr txBox="1"/>
          <p:nvPr/>
        </p:nvSpPr>
        <p:spPr>
          <a:xfrm>
            <a:off x="1366618" y="1725930"/>
            <a:ext cx="15577433" cy="606552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FFFFFF"/>
                </a:solidFill>
                <a:latin typeface="Arial"/>
                <a:ea typeface="Arial"/>
                <a:cs typeface="Arial"/>
                <a:sym typeface="Arial"/>
              </a:rPr>
              <a:t>Authors: Rui Chen, Peng Yu, and Hong Zhang</a:t>
            </a:r>
            <a:endParaRPr/>
          </a:p>
          <a:p>
            <a:pPr indent="0" lvl="0" marL="0" marR="0" rtl="0" algn="ctr">
              <a:lnSpc>
                <a:spcPct val="140013"/>
              </a:lnSpc>
              <a:spcBef>
                <a:spcPts val="0"/>
              </a:spcBef>
              <a:spcAft>
                <a:spcPts val="0"/>
              </a:spcAft>
              <a:buNone/>
            </a:pPr>
            <a:r>
              <a:t/>
            </a:r>
            <a:endParaRPr b="1" i="0" sz="2999" u="none" cap="none" strike="noStrike">
              <a:solidFill>
                <a:srgbClr val="FFFFFF"/>
              </a:solidFill>
              <a:latin typeface="Arial"/>
              <a:ea typeface="Arial"/>
              <a:cs typeface="Arial"/>
              <a:sym typeface="Arial"/>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Journal: Robotics and Autonomous Systems</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Brief:</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Integrates deep learning for adaptive heuristic generation.</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Problem:</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Fixed heuristics are inefficient in complex maps.</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Solution:</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CNN-based cost prediction guiding A*.</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Conclusion:</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Significant node expansion reduction.</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Relevance:</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We implement a simpler adaptive heuristic without heavy AI.</a:t>
            </a:r>
            <a:endParaRPr/>
          </a:p>
          <a:p>
            <a:pPr indent="0" lvl="0" marL="0" marR="0" rtl="0" algn="ctr">
              <a:lnSpc>
                <a:spcPct val="139958"/>
              </a:lnSpc>
              <a:spcBef>
                <a:spcPts val="0"/>
              </a:spcBef>
              <a:spcAft>
                <a:spcPts val="0"/>
              </a:spcAft>
              <a:buNone/>
            </a:pPr>
            <a:r>
              <a:t/>
            </a:r>
            <a:endParaRPr b="0" i="0" sz="2400" u="none" cap="none" strike="noStrike">
              <a:solidFill>
                <a:srgbClr val="FFFFFF"/>
              </a:solidFill>
              <a:latin typeface="Arial"/>
              <a:ea typeface="Arial"/>
              <a:cs typeface="Arial"/>
              <a:sym typeface="Arial"/>
            </a:endParaRPr>
          </a:p>
        </p:txBody>
      </p:sp>
      <p:cxnSp>
        <p:nvCxnSpPr>
          <p:cNvPr id="268" name="Google Shape;268;p13"/>
          <p:cNvCxnSpPr/>
          <p:nvPr/>
        </p:nvCxnSpPr>
        <p:spPr>
          <a:xfrm>
            <a:off x="1316252" y="1622425"/>
            <a:ext cx="15620242" cy="0"/>
          </a:xfrm>
          <a:prstGeom prst="straightConnector1">
            <a:avLst/>
          </a:prstGeom>
          <a:noFill/>
          <a:ln cap="flat" cmpd="sng" w="38100">
            <a:solidFill>
              <a:srgbClr val="FFFFFF"/>
            </a:solidFill>
            <a:prstDash val="solid"/>
            <a:round/>
            <a:headEnd len="sm" w="sm" type="none"/>
            <a:tailEnd len="sm" w="sm" type="none"/>
          </a:ln>
        </p:spPr>
      </p:cxnSp>
      <p:sp>
        <p:nvSpPr>
          <p:cNvPr id="269" name="Google Shape;269;p13"/>
          <p:cNvSpPr/>
          <p:nvPr/>
        </p:nvSpPr>
        <p:spPr>
          <a:xfrm rot="-8220834">
            <a:off x="-1555018" y="7441243"/>
            <a:ext cx="7912983" cy="1374881"/>
          </a:xfrm>
          <a:custGeom>
            <a:rect b="b" l="l" r="r" t="t"/>
            <a:pathLst>
              <a:path extrusionOk="0" h="1374881" w="7912983">
                <a:moveTo>
                  <a:pt x="0" y="0"/>
                </a:moveTo>
                <a:lnTo>
                  <a:pt x="7912983" y="0"/>
                </a:lnTo>
                <a:lnTo>
                  <a:pt x="7912983" y="1374880"/>
                </a:lnTo>
                <a:lnTo>
                  <a:pt x="0" y="1374880"/>
                </a:lnTo>
                <a:lnTo>
                  <a:pt x="0" y="0"/>
                </a:lnTo>
                <a:close/>
              </a:path>
            </a:pathLst>
          </a:custGeom>
          <a:blipFill rotWithShape="1">
            <a:blip r:embed="rId3">
              <a:alphaModFix/>
            </a:blip>
            <a:stretch>
              <a:fillRect b="0" l="0" r="0" t="0"/>
            </a:stretch>
          </a:blipFill>
          <a:ln>
            <a:noFill/>
          </a:ln>
        </p:spPr>
      </p:sp>
      <p:grpSp>
        <p:nvGrpSpPr>
          <p:cNvPr id="270" name="Google Shape;270;p13"/>
          <p:cNvGrpSpPr/>
          <p:nvPr/>
        </p:nvGrpSpPr>
        <p:grpSpPr>
          <a:xfrm rot="-2814084">
            <a:off x="-125299" y="5815001"/>
            <a:ext cx="3716898" cy="8874422"/>
            <a:chOff x="0" y="-38100"/>
            <a:chExt cx="1390652" cy="3320305"/>
          </a:xfrm>
        </p:grpSpPr>
        <p:sp>
          <p:nvSpPr>
            <p:cNvPr id="271" name="Google Shape;271;p13"/>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272" name="Google Shape;272;p13"/>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3" name="Google Shape;273;p13"/>
          <p:cNvSpPr/>
          <p:nvPr/>
        </p:nvSpPr>
        <p:spPr>
          <a:xfrm rot="-8220834">
            <a:off x="-1289634" y="8570860"/>
            <a:ext cx="7912983" cy="1374881"/>
          </a:xfrm>
          <a:custGeom>
            <a:rect b="b" l="l" r="r" t="t"/>
            <a:pathLst>
              <a:path extrusionOk="0" h="1374881" w="7912983">
                <a:moveTo>
                  <a:pt x="0" y="0"/>
                </a:moveTo>
                <a:lnTo>
                  <a:pt x="7912984" y="0"/>
                </a:lnTo>
                <a:lnTo>
                  <a:pt x="7912984" y="1374880"/>
                </a:lnTo>
                <a:lnTo>
                  <a:pt x="0" y="1374880"/>
                </a:lnTo>
                <a:lnTo>
                  <a:pt x="0" y="0"/>
                </a:lnTo>
                <a:close/>
              </a:path>
            </a:pathLst>
          </a:custGeom>
          <a:blipFill rotWithShape="1">
            <a:blip r:embed="rId3">
              <a:alphaModFix/>
            </a:blip>
            <a:stretch>
              <a:fillRect b="0" l="0" r="0" t="0"/>
            </a:stretch>
          </a:blipFill>
          <a:ln>
            <a:noFill/>
          </a:ln>
        </p:spPr>
      </p:sp>
      <p:grpSp>
        <p:nvGrpSpPr>
          <p:cNvPr id="274" name="Google Shape;274;p13"/>
          <p:cNvGrpSpPr/>
          <p:nvPr/>
        </p:nvGrpSpPr>
        <p:grpSpPr>
          <a:xfrm rot="-2814084">
            <a:off x="-603769" y="6010385"/>
            <a:ext cx="3716898" cy="8874422"/>
            <a:chOff x="0" y="-38100"/>
            <a:chExt cx="1390652" cy="3320305"/>
          </a:xfrm>
        </p:grpSpPr>
        <p:sp>
          <p:nvSpPr>
            <p:cNvPr id="275" name="Google Shape;275;p13"/>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276" name="Google Shape;276;p13"/>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280" name="Shape 280"/>
        <p:cNvGrpSpPr/>
        <p:nvPr/>
      </p:nvGrpSpPr>
      <p:grpSpPr>
        <a:xfrm>
          <a:off x="0" y="0"/>
          <a:ext cx="0" cy="0"/>
          <a:chOff x="0" y="0"/>
          <a:chExt cx="0" cy="0"/>
        </a:xfrm>
      </p:grpSpPr>
      <p:sp>
        <p:nvSpPr>
          <p:cNvPr id="281" name="Google Shape;281;p14"/>
          <p:cNvSpPr/>
          <p:nvPr/>
        </p:nvSpPr>
        <p:spPr>
          <a:xfrm rot="6800474">
            <a:off x="9943552" y="4172986"/>
            <a:ext cx="11240987" cy="1953121"/>
          </a:xfrm>
          <a:custGeom>
            <a:rect b="b" l="l" r="r" t="t"/>
            <a:pathLst>
              <a:path extrusionOk="0" h="1953121" w="11240987">
                <a:moveTo>
                  <a:pt x="0" y="0"/>
                </a:moveTo>
                <a:lnTo>
                  <a:pt x="11240987" y="0"/>
                </a:lnTo>
                <a:lnTo>
                  <a:pt x="11240987" y="1953122"/>
                </a:lnTo>
                <a:lnTo>
                  <a:pt x="0" y="1953122"/>
                </a:lnTo>
                <a:lnTo>
                  <a:pt x="0" y="0"/>
                </a:lnTo>
                <a:close/>
              </a:path>
            </a:pathLst>
          </a:custGeom>
          <a:blipFill rotWithShape="1">
            <a:blip r:embed="rId3">
              <a:alphaModFix/>
            </a:blip>
            <a:stretch>
              <a:fillRect b="0" l="0" r="0" t="0"/>
            </a:stretch>
          </a:blipFill>
          <a:ln>
            <a:noFill/>
          </a:ln>
        </p:spPr>
      </p:sp>
      <p:grpSp>
        <p:nvGrpSpPr>
          <p:cNvPr id="282" name="Google Shape;282;p14"/>
          <p:cNvGrpSpPr/>
          <p:nvPr/>
        </p:nvGrpSpPr>
        <p:grpSpPr>
          <a:xfrm rot="-9392774">
            <a:off x="15085036" y="-491760"/>
            <a:ext cx="5280133" cy="12606782"/>
            <a:chOff x="0" y="-38100"/>
            <a:chExt cx="1390652" cy="3320305"/>
          </a:xfrm>
        </p:grpSpPr>
        <p:sp>
          <p:nvSpPr>
            <p:cNvPr id="283" name="Google Shape;283;p14"/>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363636"/>
            </a:solidFill>
            <a:ln>
              <a:noFill/>
            </a:ln>
          </p:spPr>
        </p:sp>
        <p:sp>
          <p:nvSpPr>
            <p:cNvPr id="284" name="Google Shape;284;p14"/>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5" name="Google Shape;285;p14"/>
          <p:cNvSpPr/>
          <p:nvPr/>
        </p:nvSpPr>
        <p:spPr>
          <a:xfrm rot="6800474">
            <a:off x="10925197" y="4294216"/>
            <a:ext cx="11240987" cy="1953121"/>
          </a:xfrm>
          <a:custGeom>
            <a:rect b="b" l="l" r="r" t="t"/>
            <a:pathLst>
              <a:path extrusionOk="0" h="1953121" w="11240987">
                <a:moveTo>
                  <a:pt x="0" y="0"/>
                </a:moveTo>
                <a:lnTo>
                  <a:pt x="11240987" y="0"/>
                </a:lnTo>
                <a:lnTo>
                  <a:pt x="11240987" y="1953121"/>
                </a:lnTo>
                <a:lnTo>
                  <a:pt x="0" y="1953121"/>
                </a:lnTo>
                <a:lnTo>
                  <a:pt x="0" y="0"/>
                </a:lnTo>
                <a:close/>
              </a:path>
            </a:pathLst>
          </a:custGeom>
          <a:blipFill rotWithShape="1">
            <a:blip r:embed="rId3">
              <a:alphaModFix/>
            </a:blip>
            <a:stretch>
              <a:fillRect b="0" l="0" r="0" t="0"/>
            </a:stretch>
          </a:blipFill>
          <a:ln>
            <a:noFill/>
          </a:ln>
        </p:spPr>
      </p:sp>
      <p:grpSp>
        <p:nvGrpSpPr>
          <p:cNvPr id="286" name="Google Shape;286;p14"/>
          <p:cNvGrpSpPr/>
          <p:nvPr/>
        </p:nvGrpSpPr>
        <p:grpSpPr>
          <a:xfrm rot="-9392774">
            <a:off x="16018708" y="-160066"/>
            <a:ext cx="5280133" cy="12606782"/>
            <a:chOff x="0" y="-38100"/>
            <a:chExt cx="1390652" cy="3320305"/>
          </a:xfrm>
        </p:grpSpPr>
        <p:sp>
          <p:nvSpPr>
            <p:cNvPr id="287" name="Google Shape;287;p14"/>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288" name="Google Shape;288;p14"/>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9" name="Google Shape;289;p14"/>
          <p:cNvSpPr txBox="1"/>
          <p:nvPr/>
        </p:nvSpPr>
        <p:spPr>
          <a:xfrm>
            <a:off x="484643" y="387358"/>
            <a:ext cx="15079403" cy="121600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FFFFFF"/>
                </a:solidFill>
                <a:latin typeface="League Spartan"/>
                <a:ea typeface="League Spartan"/>
                <a:cs typeface="League Spartan"/>
                <a:sym typeface="League Spartan"/>
              </a:rPr>
              <a:t>HYBRID A* WITH PSO-BASED HEURISTIC OPTIMIZATION FOR MOBILE ROBOT PATH PLANNING (2022)</a:t>
            </a:r>
            <a:endParaRPr/>
          </a:p>
        </p:txBody>
      </p:sp>
      <p:sp>
        <p:nvSpPr>
          <p:cNvPr id="290" name="Google Shape;290;p14"/>
          <p:cNvSpPr txBox="1"/>
          <p:nvPr/>
        </p:nvSpPr>
        <p:spPr>
          <a:xfrm>
            <a:off x="484643" y="2020273"/>
            <a:ext cx="13467851" cy="5541645"/>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FFFFFF"/>
                </a:solidFill>
                <a:latin typeface="Arial"/>
                <a:ea typeface="Arial"/>
                <a:cs typeface="Arial"/>
                <a:sym typeface="Arial"/>
              </a:rPr>
              <a:t>Authors:Y. Zhang, W. Liu, J. Wang, and H. Tao</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Journal: Neurocomputing</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Brief:</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Combines Particle Swarm Optimization with A*.</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Problem:</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Static heuristics limit efficiency.</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Solution / Method:</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PSO dynamically optimizes heuristic weights..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Conclusion:</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Faster convergence in complex environments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Relevance:</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We simplify this idea using density-based weight tuning.</a:t>
            </a:r>
            <a:endParaRPr/>
          </a:p>
          <a:p>
            <a:pPr indent="0" lvl="0" marL="0" marR="0" rtl="0" algn="l">
              <a:lnSpc>
                <a:spcPct val="139958"/>
              </a:lnSpc>
              <a:spcBef>
                <a:spcPts val="0"/>
              </a:spcBef>
              <a:spcAft>
                <a:spcPts val="0"/>
              </a:spcAft>
              <a:buNone/>
            </a:pPr>
            <a:r>
              <a:t/>
            </a:r>
            <a:endParaRPr b="0" i="0" sz="2400" u="none" cap="none" strike="noStrike">
              <a:solidFill>
                <a:srgbClr val="FFFFFF"/>
              </a:solidFill>
              <a:latin typeface="Arial"/>
              <a:ea typeface="Arial"/>
              <a:cs typeface="Arial"/>
              <a:sym typeface="Arial"/>
            </a:endParaRPr>
          </a:p>
        </p:txBody>
      </p:sp>
      <p:cxnSp>
        <p:nvCxnSpPr>
          <p:cNvPr id="291" name="Google Shape;291;p14"/>
          <p:cNvCxnSpPr/>
          <p:nvPr/>
        </p:nvCxnSpPr>
        <p:spPr>
          <a:xfrm>
            <a:off x="484643" y="1603367"/>
            <a:ext cx="15022223"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295" name="Shape 295"/>
        <p:cNvGrpSpPr/>
        <p:nvPr/>
      </p:nvGrpSpPr>
      <p:grpSpPr>
        <a:xfrm>
          <a:off x="0" y="0"/>
          <a:ext cx="0" cy="0"/>
          <a:chOff x="0" y="0"/>
          <a:chExt cx="0" cy="0"/>
        </a:xfrm>
      </p:grpSpPr>
      <p:sp>
        <p:nvSpPr>
          <p:cNvPr id="296" name="Google Shape;296;p15"/>
          <p:cNvSpPr txBox="1"/>
          <p:nvPr/>
        </p:nvSpPr>
        <p:spPr>
          <a:xfrm>
            <a:off x="1359062" y="101600"/>
            <a:ext cx="15584989" cy="12160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500" u="none" cap="none" strike="noStrike">
                <a:solidFill>
                  <a:srgbClr val="FFFFFF"/>
                </a:solidFill>
                <a:latin typeface="League Spartan"/>
                <a:ea typeface="League Spartan"/>
                <a:cs typeface="League Spartan"/>
                <a:sym typeface="League Spartan"/>
              </a:rPr>
              <a:t>DYNAMIC PATH PLANNING IN UNKNOWN ENVIRONMENTS USING A* WITH REAL-TIME REPLANNING(2021)</a:t>
            </a:r>
            <a:endParaRPr/>
          </a:p>
        </p:txBody>
      </p:sp>
      <p:sp>
        <p:nvSpPr>
          <p:cNvPr id="297" name="Google Shape;297;p15"/>
          <p:cNvSpPr txBox="1"/>
          <p:nvPr/>
        </p:nvSpPr>
        <p:spPr>
          <a:xfrm>
            <a:off x="1366618" y="1725930"/>
            <a:ext cx="15577433" cy="564642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FFFFFF"/>
                </a:solidFill>
                <a:latin typeface="Arial"/>
                <a:ea typeface="Arial"/>
                <a:cs typeface="Arial"/>
                <a:sym typeface="Arial"/>
              </a:rPr>
              <a:t>Authors: X. Li, J. Zhou, Q. Huang, and Y. Li</a:t>
            </a:r>
            <a:endParaRPr/>
          </a:p>
          <a:p>
            <a:pPr indent="0" lvl="0" marL="0" marR="0" rtl="0" algn="ctr">
              <a:lnSpc>
                <a:spcPct val="140013"/>
              </a:lnSpc>
              <a:spcBef>
                <a:spcPts val="0"/>
              </a:spcBef>
              <a:spcAft>
                <a:spcPts val="0"/>
              </a:spcAft>
              <a:buNone/>
            </a:pPr>
            <a:r>
              <a:t/>
            </a:r>
            <a:endParaRPr b="1" i="0" sz="2999" u="none" cap="none" strike="noStrike">
              <a:solidFill>
                <a:srgbClr val="FFFFFF"/>
              </a:solidFill>
              <a:latin typeface="Arial"/>
              <a:ea typeface="Arial"/>
              <a:cs typeface="Arial"/>
              <a:sym typeface="Arial"/>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Journal: IEEE Access</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Brief:</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Adds real-time replanning to A*</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Problem:</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Standard A* fails in dynamic obstacle environments</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Solution:</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Incremental replanning mechanism.</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Conclusion:</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Reduced recomputation cost</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Relevance:</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Possible future extension: dynamic obstacle mode</a:t>
            </a:r>
            <a:endParaRPr/>
          </a:p>
        </p:txBody>
      </p:sp>
      <p:cxnSp>
        <p:nvCxnSpPr>
          <p:cNvPr id="298" name="Google Shape;298;p15"/>
          <p:cNvCxnSpPr/>
          <p:nvPr/>
        </p:nvCxnSpPr>
        <p:spPr>
          <a:xfrm>
            <a:off x="1316252" y="1622425"/>
            <a:ext cx="15620242" cy="0"/>
          </a:xfrm>
          <a:prstGeom prst="straightConnector1">
            <a:avLst/>
          </a:prstGeom>
          <a:noFill/>
          <a:ln cap="flat" cmpd="sng" w="38100">
            <a:solidFill>
              <a:srgbClr val="FFFFFF"/>
            </a:solidFill>
            <a:prstDash val="solid"/>
            <a:round/>
            <a:headEnd len="sm" w="sm" type="none"/>
            <a:tailEnd len="sm" w="sm" type="none"/>
          </a:ln>
        </p:spPr>
      </p:cxnSp>
      <p:sp>
        <p:nvSpPr>
          <p:cNvPr id="299" name="Google Shape;299;p15"/>
          <p:cNvSpPr/>
          <p:nvPr/>
        </p:nvSpPr>
        <p:spPr>
          <a:xfrm rot="-8220834">
            <a:off x="-1555018" y="7441243"/>
            <a:ext cx="7912983" cy="1374881"/>
          </a:xfrm>
          <a:custGeom>
            <a:rect b="b" l="l" r="r" t="t"/>
            <a:pathLst>
              <a:path extrusionOk="0" h="1374881" w="7912983">
                <a:moveTo>
                  <a:pt x="0" y="0"/>
                </a:moveTo>
                <a:lnTo>
                  <a:pt x="7912983" y="0"/>
                </a:lnTo>
                <a:lnTo>
                  <a:pt x="7912983" y="1374880"/>
                </a:lnTo>
                <a:lnTo>
                  <a:pt x="0" y="1374880"/>
                </a:lnTo>
                <a:lnTo>
                  <a:pt x="0" y="0"/>
                </a:lnTo>
                <a:close/>
              </a:path>
            </a:pathLst>
          </a:custGeom>
          <a:blipFill rotWithShape="1">
            <a:blip r:embed="rId3">
              <a:alphaModFix/>
            </a:blip>
            <a:stretch>
              <a:fillRect b="0" l="0" r="0" t="0"/>
            </a:stretch>
          </a:blipFill>
          <a:ln>
            <a:noFill/>
          </a:ln>
        </p:spPr>
      </p:sp>
      <p:grpSp>
        <p:nvGrpSpPr>
          <p:cNvPr id="300" name="Google Shape;300;p15"/>
          <p:cNvGrpSpPr/>
          <p:nvPr/>
        </p:nvGrpSpPr>
        <p:grpSpPr>
          <a:xfrm rot="-2814084">
            <a:off x="-125299" y="5815001"/>
            <a:ext cx="3716898" cy="8874422"/>
            <a:chOff x="0" y="-38100"/>
            <a:chExt cx="1390652" cy="3320305"/>
          </a:xfrm>
        </p:grpSpPr>
        <p:sp>
          <p:nvSpPr>
            <p:cNvPr id="301" name="Google Shape;301;p15"/>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302" name="Google Shape;302;p15"/>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3" name="Google Shape;303;p15"/>
          <p:cNvSpPr/>
          <p:nvPr/>
        </p:nvSpPr>
        <p:spPr>
          <a:xfrm rot="-8220834">
            <a:off x="-1289634" y="8570860"/>
            <a:ext cx="7912983" cy="1374881"/>
          </a:xfrm>
          <a:custGeom>
            <a:rect b="b" l="l" r="r" t="t"/>
            <a:pathLst>
              <a:path extrusionOk="0" h="1374881" w="7912983">
                <a:moveTo>
                  <a:pt x="0" y="0"/>
                </a:moveTo>
                <a:lnTo>
                  <a:pt x="7912984" y="0"/>
                </a:lnTo>
                <a:lnTo>
                  <a:pt x="7912984" y="1374880"/>
                </a:lnTo>
                <a:lnTo>
                  <a:pt x="0" y="1374880"/>
                </a:lnTo>
                <a:lnTo>
                  <a:pt x="0" y="0"/>
                </a:lnTo>
                <a:close/>
              </a:path>
            </a:pathLst>
          </a:custGeom>
          <a:blipFill rotWithShape="1">
            <a:blip r:embed="rId3">
              <a:alphaModFix/>
            </a:blip>
            <a:stretch>
              <a:fillRect b="0" l="0" r="0" t="0"/>
            </a:stretch>
          </a:blipFill>
          <a:ln>
            <a:noFill/>
          </a:ln>
        </p:spPr>
      </p:sp>
      <p:grpSp>
        <p:nvGrpSpPr>
          <p:cNvPr id="304" name="Google Shape;304;p15"/>
          <p:cNvGrpSpPr/>
          <p:nvPr/>
        </p:nvGrpSpPr>
        <p:grpSpPr>
          <a:xfrm rot="-2814084">
            <a:off x="-603769" y="6010385"/>
            <a:ext cx="3716898" cy="8874422"/>
            <a:chOff x="0" y="-38100"/>
            <a:chExt cx="1390652" cy="3320305"/>
          </a:xfrm>
        </p:grpSpPr>
        <p:sp>
          <p:nvSpPr>
            <p:cNvPr id="305" name="Google Shape;305;p15"/>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306" name="Google Shape;306;p15"/>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310" name="Shape 310"/>
        <p:cNvGrpSpPr/>
        <p:nvPr/>
      </p:nvGrpSpPr>
      <p:grpSpPr>
        <a:xfrm>
          <a:off x="0" y="0"/>
          <a:ext cx="0" cy="0"/>
          <a:chOff x="0" y="0"/>
          <a:chExt cx="0" cy="0"/>
        </a:xfrm>
      </p:grpSpPr>
      <p:sp>
        <p:nvSpPr>
          <p:cNvPr id="311" name="Google Shape;311;p16"/>
          <p:cNvSpPr/>
          <p:nvPr/>
        </p:nvSpPr>
        <p:spPr>
          <a:xfrm rot="6800474">
            <a:off x="9943552" y="4172986"/>
            <a:ext cx="11240987" cy="1953121"/>
          </a:xfrm>
          <a:custGeom>
            <a:rect b="b" l="l" r="r" t="t"/>
            <a:pathLst>
              <a:path extrusionOk="0" h="1953121" w="11240987">
                <a:moveTo>
                  <a:pt x="0" y="0"/>
                </a:moveTo>
                <a:lnTo>
                  <a:pt x="11240987" y="0"/>
                </a:lnTo>
                <a:lnTo>
                  <a:pt x="11240987" y="1953122"/>
                </a:lnTo>
                <a:lnTo>
                  <a:pt x="0" y="1953122"/>
                </a:lnTo>
                <a:lnTo>
                  <a:pt x="0" y="0"/>
                </a:lnTo>
                <a:close/>
              </a:path>
            </a:pathLst>
          </a:custGeom>
          <a:blipFill rotWithShape="1">
            <a:blip r:embed="rId3">
              <a:alphaModFix/>
            </a:blip>
            <a:stretch>
              <a:fillRect b="0" l="0" r="0" t="0"/>
            </a:stretch>
          </a:blipFill>
          <a:ln>
            <a:noFill/>
          </a:ln>
        </p:spPr>
      </p:sp>
      <p:grpSp>
        <p:nvGrpSpPr>
          <p:cNvPr id="312" name="Google Shape;312;p16"/>
          <p:cNvGrpSpPr/>
          <p:nvPr/>
        </p:nvGrpSpPr>
        <p:grpSpPr>
          <a:xfrm rot="-9392774">
            <a:off x="15085036" y="-491760"/>
            <a:ext cx="5280133" cy="12606782"/>
            <a:chOff x="0" y="-38100"/>
            <a:chExt cx="1390652" cy="3320305"/>
          </a:xfrm>
        </p:grpSpPr>
        <p:sp>
          <p:nvSpPr>
            <p:cNvPr id="313" name="Google Shape;313;p16"/>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363636"/>
            </a:solidFill>
            <a:ln>
              <a:noFill/>
            </a:ln>
          </p:spPr>
        </p:sp>
        <p:sp>
          <p:nvSpPr>
            <p:cNvPr id="314" name="Google Shape;314;p16"/>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5" name="Google Shape;315;p16"/>
          <p:cNvSpPr/>
          <p:nvPr/>
        </p:nvSpPr>
        <p:spPr>
          <a:xfrm rot="6800474">
            <a:off x="10925197" y="4294216"/>
            <a:ext cx="11240987" cy="1953121"/>
          </a:xfrm>
          <a:custGeom>
            <a:rect b="b" l="l" r="r" t="t"/>
            <a:pathLst>
              <a:path extrusionOk="0" h="1953121" w="11240987">
                <a:moveTo>
                  <a:pt x="0" y="0"/>
                </a:moveTo>
                <a:lnTo>
                  <a:pt x="11240987" y="0"/>
                </a:lnTo>
                <a:lnTo>
                  <a:pt x="11240987" y="1953121"/>
                </a:lnTo>
                <a:lnTo>
                  <a:pt x="0" y="1953121"/>
                </a:lnTo>
                <a:lnTo>
                  <a:pt x="0" y="0"/>
                </a:lnTo>
                <a:close/>
              </a:path>
            </a:pathLst>
          </a:custGeom>
          <a:blipFill rotWithShape="1">
            <a:blip r:embed="rId3">
              <a:alphaModFix/>
            </a:blip>
            <a:stretch>
              <a:fillRect b="0" l="0" r="0" t="0"/>
            </a:stretch>
          </a:blipFill>
          <a:ln>
            <a:noFill/>
          </a:ln>
        </p:spPr>
      </p:sp>
      <p:grpSp>
        <p:nvGrpSpPr>
          <p:cNvPr id="316" name="Google Shape;316;p16"/>
          <p:cNvGrpSpPr/>
          <p:nvPr/>
        </p:nvGrpSpPr>
        <p:grpSpPr>
          <a:xfrm rot="-9392774">
            <a:off x="16018708" y="-160066"/>
            <a:ext cx="5280133" cy="12606782"/>
            <a:chOff x="0" y="-38100"/>
            <a:chExt cx="1390652" cy="3320305"/>
          </a:xfrm>
        </p:grpSpPr>
        <p:sp>
          <p:nvSpPr>
            <p:cNvPr id="317" name="Google Shape;317;p16"/>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318" name="Google Shape;318;p16"/>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9" name="Google Shape;319;p16"/>
          <p:cNvSpPr txBox="1"/>
          <p:nvPr/>
        </p:nvSpPr>
        <p:spPr>
          <a:xfrm>
            <a:off x="484643" y="387358"/>
            <a:ext cx="15079403" cy="121600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FFFFFF"/>
                </a:solidFill>
                <a:latin typeface="League Spartan"/>
                <a:ea typeface="League Spartan"/>
                <a:cs typeface="League Spartan"/>
                <a:sym typeface="League Spartan"/>
              </a:rPr>
              <a:t>AN IMPROVED BIDIRECTIONAL A* ALGORITHM FOR LARGE-SCALE GRID PATH PLANNING(2022)</a:t>
            </a:r>
            <a:endParaRPr/>
          </a:p>
        </p:txBody>
      </p:sp>
      <p:sp>
        <p:nvSpPr>
          <p:cNvPr id="320" name="Google Shape;320;p16"/>
          <p:cNvSpPr txBox="1"/>
          <p:nvPr/>
        </p:nvSpPr>
        <p:spPr>
          <a:xfrm>
            <a:off x="484643" y="2020273"/>
            <a:ext cx="13467851" cy="5122545"/>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FFFFFF"/>
                </a:solidFill>
                <a:latin typeface="Arial"/>
                <a:ea typeface="Arial"/>
                <a:cs typeface="Arial"/>
                <a:sym typeface="Arial"/>
              </a:rPr>
              <a:t>Authors:. Liu, H. Zhao, Y. Chen</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Journal: Future Generation Computer Systems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Brief:</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Enhances bidirectional A* meeting strategy.</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Problem:</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Inefficient coordination between search waves.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Solution / Method:</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Adaptive heuristic weighting and early termination.</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Conclusion:</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Reduced node expansion in large maps.</a:t>
            </a:r>
            <a:endParaRPr/>
          </a:p>
          <a:p>
            <a:pPr indent="0" lvl="0" marL="0" marR="0" rtl="0" algn="l">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Relevance:</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Confirms importance of heuristic adaptation.</a:t>
            </a:r>
            <a:endParaRPr/>
          </a:p>
        </p:txBody>
      </p:sp>
      <p:cxnSp>
        <p:nvCxnSpPr>
          <p:cNvPr id="321" name="Google Shape;321;p16"/>
          <p:cNvCxnSpPr/>
          <p:nvPr/>
        </p:nvCxnSpPr>
        <p:spPr>
          <a:xfrm>
            <a:off x="484643" y="1603367"/>
            <a:ext cx="15022223"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325" name="Shape 325"/>
        <p:cNvGrpSpPr/>
        <p:nvPr/>
      </p:nvGrpSpPr>
      <p:grpSpPr>
        <a:xfrm>
          <a:off x="0" y="0"/>
          <a:ext cx="0" cy="0"/>
          <a:chOff x="0" y="0"/>
          <a:chExt cx="0" cy="0"/>
        </a:xfrm>
      </p:grpSpPr>
      <p:sp>
        <p:nvSpPr>
          <p:cNvPr id="326" name="Google Shape;326;p17"/>
          <p:cNvSpPr txBox="1"/>
          <p:nvPr/>
        </p:nvSpPr>
        <p:spPr>
          <a:xfrm>
            <a:off x="1359062" y="101600"/>
            <a:ext cx="15584989" cy="12160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500" u="none" cap="none" strike="noStrike">
                <a:solidFill>
                  <a:srgbClr val="FFFFFF"/>
                </a:solidFill>
                <a:latin typeface="League Spartan"/>
                <a:ea typeface="League Spartan"/>
                <a:cs typeface="League Spartan"/>
                <a:sym typeface="League Spartan"/>
              </a:rPr>
              <a:t>A REINFORCEMENT LEARNING ASSISTED A* ALGORITHM FOR EFFICIENT PATH PLANNING(2023)</a:t>
            </a:r>
            <a:endParaRPr/>
          </a:p>
        </p:txBody>
      </p:sp>
      <p:sp>
        <p:nvSpPr>
          <p:cNvPr id="327" name="Google Shape;327;p17"/>
          <p:cNvSpPr txBox="1"/>
          <p:nvPr/>
        </p:nvSpPr>
        <p:spPr>
          <a:xfrm>
            <a:off x="1366618" y="1725930"/>
            <a:ext cx="15577433" cy="480822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FFFFFF"/>
                </a:solidFill>
                <a:latin typeface="Arial"/>
                <a:ea typeface="Arial"/>
                <a:cs typeface="Arial"/>
                <a:sym typeface="Arial"/>
              </a:rPr>
              <a:t>Authors: M. Zhang, Q. Wu, L. Sun</a:t>
            </a:r>
            <a:endParaRPr/>
          </a:p>
          <a:p>
            <a:pPr indent="0" lvl="0" marL="0" marR="0" rtl="0" algn="ctr">
              <a:lnSpc>
                <a:spcPct val="140013"/>
              </a:lnSpc>
              <a:spcBef>
                <a:spcPts val="0"/>
              </a:spcBef>
              <a:spcAft>
                <a:spcPts val="0"/>
              </a:spcAft>
              <a:buNone/>
            </a:pPr>
            <a:r>
              <a:t/>
            </a:r>
            <a:endParaRPr b="1" i="0" sz="2999" u="none" cap="none" strike="noStrike">
              <a:solidFill>
                <a:srgbClr val="FFFFFF"/>
              </a:solidFill>
              <a:latin typeface="Arial"/>
              <a:ea typeface="Arial"/>
              <a:cs typeface="Arial"/>
              <a:sym typeface="Arial"/>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Journal:IEEE Transactions on Intelligent Transportation Systems</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Brief:</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Integrates reinforcement learning with A*.</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Problem:</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Handcrafted heuristics lack adaptability.</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Solution:</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Improved scalability and efficiency.</a:t>
            </a:r>
            <a:endParaRPr/>
          </a:p>
          <a:p>
            <a:pPr indent="0" lvl="0" marL="0" marR="0" rtl="0" algn="ctr">
              <a:lnSpc>
                <a:spcPct val="139958"/>
              </a:lnSpc>
              <a:spcBef>
                <a:spcPts val="0"/>
              </a:spcBef>
              <a:spcAft>
                <a:spcPts val="0"/>
              </a:spcAft>
              <a:buNone/>
            </a:pPr>
            <a:r>
              <a:rPr b="1" i="0" lang="en-US" sz="2400" u="sng" cap="none" strike="noStrike">
                <a:solidFill>
                  <a:srgbClr val="FFFFFF"/>
                </a:solidFill>
                <a:latin typeface="Arial"/>
                <a:ea typeface="Arial"/>
                <a:cs typeface="Arial"/>
                <a:sym typeface="Arial"/>
              </a:rPr>
              <a:t>Relevance:</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We use a lightweight adaptive method instead of heavy RL models.</a:t>
            </a:r>
            <a:endParaRPr/>
          </a:p>
        </p:txBody>
      </p:sp>
      <p:cxnSp>
        <p:nvCxnSpPr>
          <p:cNvPr id="328" name="Google Shape;328;p17"/>
          <p:cNvCxnSpPr/>
          <p:nvPr/>
        </p:nvCxnSpPr>
        <p:spPr>
          <a:xfrm>
            <a:off x="1316252" y="1622425"/>
            <a:ext cx="15620242" cy="0"/>
          </a:xfrm>
          <a:prstGeom prst="straightConnector1">
            <a:avLst/>
          </a:prstGeom>
          <a:noFill/>
          <a:ln cap="flat" cmpd="sng" w="38100">
            <a:solidFill>
              <a:srgbClr val="FFFFFF"/>
            </a:solidFill>
            <a:prstDash val="solid"/>
            <a:round/>
            <a:headEnd len="sm" w="sm" type="none"/>
            <a:tailEnd len="sm" w="sm" type="none"/>
          </a:ln>
        </p:spPr>
      </p:cxnSp>
      <p:sp>
        <p:nvSpPr>
          <p:cNvPr id="329" name="Google Shape;329;p17"/>
          <p:cNvSpPr/>
          <p:nvPr/>
        </p:nvSpPr>
        <p:spPr>
          <a:xfrm rot="-8220834">
            <a:off x="-1555018" y="7441243"/>
            <a:ext cx="7912983" cy="1374881"/>
          </a:xfrm>
          <a:custGeom>
            <a:rect b="b" l="l" r="r" t="t"/>
            <a:pathLst>
              <a:path extrusionOk="0" h="1374881" w="7912983">
                <a:moveTo>
                  <a:pt x="0" y="0"/>
                </a:moveTo>
                <a:lnTo>
                  <a:pt x="7912983" y="0"/>
                </a:lnTo>
                <a:lnTo>
                  <a:pt x="7912983" y="1374880"/>
                </a:lnTo>
                <a:lnTo>
                  <a:pt x="0" y="1374880"/>
                </a:lnTo>
                <a:lnTo>
                  <a:pt x="0" y="0"/>
                </a:lnTo>
                <a:close/>
              </a:path>
            </a:pathLst>
          </a:custGeom>
          <a:blipFill rotWithShape="1">
            <a:blip r:embed="rId3">
              <a:alphaModFix/>
            </a:blip>
            <a:stretch>
              <a:fillRect b="0" l="0" r="0" t="0"/>
            </a:stretch>
          </a:blipFill>
          <a:ln>
            <a:noFill/>
          </a:ln>
        </p:spPr>
      </p:sp>
      <p:grpSp>
        <p:nvGrpSpPr>
          <p:cNvPr id="330" name="Google Shape;330;p17"/>
          <p:cNvGrpSpPr/>
          <p:nvPr/>
        </p:nvGrpSpPr>
        <p:grpSpPr>
          <a:xfrm rot="-2814084">
            <a:off x="-125299" y="5815001"/>
            <a:ext cx="3716898" cy="8874422"/>
            <a:chOff x="0" y="-38100"/>
            <a:chExt cx="1390652" cy="3320305"/>
          </a:xfrm>
        </p:grpSpPr>
        <p:sp>
          <p:nvSpPr>
            <p:cNvPr id="331" name="Google Shape;331;p17"/>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332" name="Google Shape;332;p17"/>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3" name="Google Shape;333;p17"/>
          <p:cNvSpPr/>
          <p:nvPr/>
        </p:nvSpPr>
        <p:spPr>
          <a:xfrm rot="-8220834">
            <a:off x="-1289634" y="8570860"/>
            <a:ext cx="7912983" cy="1374881"/>
          </a:xfrm>
          <a:custGeom>
            <a:rect b="b" l="l" r="r" t="t"/>
            <a:pathLst>
              <a:path extrusionOk="0" h="1374881" w="7912983">
                <a:moveTo>
                  <a:pt x="0" y="0"/>
                </a:moveTo>
                <a:lnTo>
                  <a:pt x="7912984" y="0"/>
                </a:lnTo>
                <a:lnTo>
                  <a:pt x="7912984" y="1374880"/>
                </a:lnTo>
                <a:lnTo>
                  <a:pt x="0" y="1374880"/>
                </a:lnTo>
                <a:lnTo>
                  <a:pt x="0" y="0"/>
                </a:lnTo>
                <a:close/>
              </a:path>
            </a:pathLst>
          </a:custGeom>
          <a:blipFill rotWithShape="1">
            <a:blip r:embed="rId3">
              <a:alphaModFix/>
            </a:blip>
            <a:stretch>
              <a:fillRect b="0" l="0" r="0" t="0"/>
            </a:stretch>
          </a:blipFill>
          <a:ln>
            <a:noFill/>
          </a:ln>
        </p:spPr>
      </p:sp>
      <p:grpSp>
        <p:nvGrpSpPr>
          <p:cNvPr id="334" name="Google Shape;334;p17"/>
          <p:cNvGrpSpPr/>
          <p:nvPr/>
        </p:nvGrpSpPr>
        <p:grpSpPr>
          <a:xfrm rot="-2814084">
            <a:off x="-603769" y="6010385"/>
            <a:ext cx="3716898" cy="8874422"/>
            <a:chOff x="0" y="-38100"/>
            <a:chExt cx="1390652" cy="3320305"/>
          </a:xfrm>
        </p:grpSpPr>
        <p:sp>
          <p:nvSpPr>
            <p:cNvPr id="335" name="Google Shape;335;p17"/>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336" name="Google Shape;336;p17"/>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340" name="Shape 340"/>
        <p:cNvGrpSpPr/>
        <p:nvPr/>
      </p:nvGrpSpPr>
      <p:grpSpPr>
        <a:xfrm>
          <a:off x="0" y="0"/>
          <a:ext cx="0" cy="0"/>
          <a:chOff x="0" y="0"/>
          <a:chExt cx="0" cy="0"/>
        </a:xfrm>
      </p:grpSpPr>
      <p:sp>
        <p:nvSpPr>
          <p:cNvPr id="341" name="Google Shape;341;p18"/>
          <p:cNvSpPr/>
          <p:nvPr/>
        </p:nvSpPr>
        <p:spPr>
          <a:xfrm rot="-8220834">
            <a:off x="-1818176" y="8570860"/>
            <a:ext cx="7912983" cy="1374881"/>
          </a:xfrm>
          <a:custGeom>
            <a:rect b="b" l="l" r="r" t="t"/>
            <a:pathLst>
              <a:path extrusionOk="0" h="1374881" w="7912983">
                <a:moveTo>
                  <a:pt x="0" y="0"/>
                </a:moveTo>
                <a:lnTo>
                  <a:pt x="7912983" y="0"/>
                </a:lnTo>
                <a:lnTo>
                  <a:pt x="7912983" y="1374880"/>
                </a:lnTo>
                <a:lnTo>
                  <a:pt x="0" y="1374880"/>
                </a:lnTo>
                <a:lnTo>
                  <a:pt x="0" y="0"/>
                </a:lnTo>
                <a:close/>
              </a:path>
            </a:pathLst>
          </a:custGeom>
          <a:blipFill rotWithShape="1">
            <a:blip r:embed="rId3">
              <a:alphaModFix/>
            </a:blip>
            <a:stretch>
              <a:fillRect b="0" l="0" r="0" t="0"/>
            </a:stretch>
          </a:blipFill>
          <a:ln>
            <a:noFill/>
          </a:ln>
        </p:spPr>
      </p:sp>
      <p:grpSp>
        <p:nvGrpSpPr>
          <p:cNvPr id="342" name="Google Shape;342;p18"/>
          <p:cNvGrpSpPr/>
          <p:nvPr/>
        </p:nvGrpSpPr>
        <p:grpSpPr>
          <a:xfrm rot="-2814084">
            <a:off x="-866927" y="6336274"/>
            <a:ext cx="3716898" cy="8874422"/>
            <a:chOff x="0" y="-38100"/>
            <a:chExt cx="1390652" cy="3320305"/>
          </a:xfrm>
        </p:grpSpPr>
        <p:sp>
          <p:nvSpPr>
            <p:cNvPr id="343" name="Google Shape;343;p18"/>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363636"/>
            </a:solidFill>
            <a:ln>
              <a:noFill/>
            </a:ln>
          </p:spPr>
        </p:sp>
        <p:sp>
          <p:nvSpPr>
            <p:cNvPr id="344" name="Google Shape;344;p18"/>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5" name="Google Shape;345;p18"/>
          <p:cNvSpPr/>
          <p:nvPr/>
        </p:nvSpPr>
        <p:spPr>
          <a:xfrm rot="-8220834">
            <a:off x="-2199377" y="8967365"/>
            <a:ext cx="7912983" cy="1374881"/>
          </a:xfrm>
          <a:custGeom>
            <a:rect b="b" l="l" r="r" t="t"/>
            <a:pathLst>
              <a:path extrusionOk="0" h="1374881" w="7912983">
                <a:moveTo>
                  <a:pt x="0" y="0"/>
                </a:moveTo>
                <a:lnTo>
                  <a:pt x="7912983" y="0"/>
                </a:lnTo>
                <a:lnTo>
                  <a:pt x="7912983" y="1374881"/>
                </a:lnTo>
                <a:lnTo>
                  <a:pt x="0" y="1374881"/>
                </a:lnTo>
                <a:lnTo>
                  <a:pt x="0" y="0"/>
                </a:lnTo>
                <a:close/>
              </a:path>
            </a:pathLst>
          </a:custGeom>
          <a:blipFill rotWithShape="1">
            <a:blip r:embed="rId3">
              <a:alphaModFix/>
            </a:blip>
            <a:stretch>
              <a:fillRect b="0" l="0" r="0" t="0"/>
            </a:stretch>
          </a:blipFill>
          <a:ln>
            <a:noFill/>
          </a:ln>
        </p:spPr>
      </p:sp>
      <p:grpSp>
        <p:nvGrpSpPr>
          <p:cNvPr id="346" name="Google Shape;346;p18"/>
          <p:cNvGrpSpPr/>
          <p:nvPr/>
        </p:nvGrpSpPr>
        <p:grpSpPr>
          <a:xfrm rot="-2814084">
            <a:off x="-1368849" y="6584548"/>
            <a:ext cx="3716898" cy="8874422"/>
            <a:chOff x="0" y="-38100"/>
            <a:chExt cx="1390652" cy="3320305"/>
          </a:xfrm>
        </p:grpSpPr>
        <p:sp>
          <p:nvSpPr>
            <p:cNvPr id="347" name="Google Shape;347;p18"/>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348" name="Google Shape;348;p18"/>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9" name="Google Shape;349;p18"/>
          <p:cNvSpPr/>
          <p:nvPr/>
        </p:nvSpPr>
        <p:spPr>
          <a:xfrm rot="2509753">
            <a:off x="12546801" y="1033727"/>
            <a:ext cx="7912983" cy="1374881"/>
          </a:xfrm>
          <a:custGeom>
            <a:rect b="b" l="l" r="r" t="t"/>
            <a:pathLst>
              <a:path extrusionOk="0" h="1374881" w="7912983">
                <a:moveTo>
                  <a:pt x="0" y="0"/>
                </a:moveTo>
                <a:lnTo>
                  <a:pt x="7912984" y="0"/>
                </a:lnTo>
                <a:lnTo>
                  <a:pt x="7912984" y="1374881"/>
                </a:lnTo>
                <a:lnTo>
                  <a:pt x="0" y="1374881"/>
                </a:lnTo>
                <a:lnTo>
                  <a:pt x="0" y="0"/>
                </a:lnTo>
                <a:close/>
              </a:path>
            </a:pathLst>
          </a:custGeom>
          <a:blipFill rotWithShape="1">
            <a:blip r:embed="rId3">
              <a:alphaModFix/>
            </a:blip>
            <a:stretch>
              <a:fillRect b="0" l="0" r="0" t="0"/>
            </a:stretch>
          </a:blipFill>
          <a:ln>
            <a:noFill/>
          </a:ln>
        </p:spPr>
      </p:sp>
      <p:grpSp>
        <p:nvGrpSpPr>
          <p:cNvPr id="350" name="Google Shape;350;p18"/>
          <p:cNvGrpSpPr/>
          <p:nvPr/>
        </p:nvGrpSpPr>
        <p:grpSpPr>
          <a:xfrm rot="7916504">
            <a:off x="15780905" y="-4105047"/>
            <a:ext cx="3716898" cy="8874422"/>
            <a:chOff x="0" y="-38100"/>
            <a:chExt cx="1390652" cy="3320305"/>
          </a:xfrm>
        </p:grpSpPr>
        <p:sp>
          <p:nvSpPr>
            <p:cNvPr id="351" name="Google Shape;351;p18"/>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363636"/>
            </a:solidFill>
            <a:ln>
              <a:noFill/>
            </a:ln>
          </p:spPr>
        </p:sp>
        <p:sp>
          <p:nvSpPr>
            <p:cNvPr id="352" name="Google Shape;352;p18"/>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3" name="Google Shape;353;p18"/>
          <p:cNvSpPr/>
          <p:nvPr/>
        </p:nvSpPr>
        <p:spPr>
          <a:xfrm rot="2509753">
            <a:off x="13644989" y="1442615"/>
            <a:ext cx="7912983" cy="1374881"/>
          </a:xfrm>
          <a:custGeom>
            <a:rect b="b" l="l" r="r" t="t"/>
            <a:pathLst>
              <a:path extrusionOk="0" h="1374881" w="7912983">
                <a:moveTo>
                  <a:pt x="0" y="0"/>
                </a:moveTo>
                <a:lnTo>
                  <a:pt x="7912984" y="0"/>
                </a:lnTo>
                <a:lnTo>
                  <a:pt x="7912984" y="1374881"/>
                </a:lnTo>
                <a:lnTo>
                  <a:pt x="0" y="1374881"/>
                </a:lnTo>
                <a:lnTo>
                  <a:pt x="0" y="0"/>
                </a:lnTo>
                <a:close/>
              </a:path>
            </a:pathLst>
          </a:custGeom>
          <a:blipFill rotWithShape="1">
            <a:blip r:embed="rId3">
              <a:alphaModFix/>
            </a:blip>
            <a:stretch>
              <a:fillRect b="0" l="0" r="0" t="0"/>
            </a:stretch>
          </a:blipFill>
          <a:ln>
            <a:noFill/>
          </a:ln>
        </p:spPr>
      </p:sp>
      <p:grpSp>
        <p:nvGrpSpPr>
          <p:cNvPr id="354" name="Google Shape;354;p18"/>
          <p:cNvGrpSpPr/>
          <p:nvPr/>
        </p:nvGrpSpPr>
        <p:grpSpPr>
          <a:xfrm rot="7916504">
            <a:off x="16879093" y="-4105047"/>
            <a:ext cx="3716898" cy="8874422"/>
            <a:chOff x="0" y="-38100"/>
            <a:chExt cx="1390652" cy="3320305"/>
          </a:xfrm>
        </p:grpSpPr>
        <p:sp>
          <p:nvSpPr>
            <p:cNvPr id="355" name="Google Shape;355;p18"/>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356" name="Google Shape;356;p18"/>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7" name="Google Shape;357;p18"/>
          <p:cNvSpPr txBox="1"/>
          <p:nvPr/>
        </p:nvSpPr>
        <p:spPr>
          <a:xfrm>
            <a:off x="1094208" y="174307"/>
            <a:ext cx="15409085" cy="116775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6900" u="none" cap="none" strike="noStrike">
                <a:solidFill>
                  <a:srgbClr val="FFFFFF"/>
                </a:solidFill>
                <a:latin typeface="League Spartan"/>
                <a:ea typeface="League Spartan"/>
                <a:cs typeface="League Spartan"/>
                <a:sym typeface="League Spartan"/>
              </a:rPr>
              <a:t>EVOLUTION OF RESEARCH</a:t>
            </a:r>
            <a:endParaRPr/>
          </a:p>
        </p:txBody>
      </p:sp>
      <p:cxnSp>
        <p:nvCxnSpPr>
          <p:cNvPr id="358" name="Google Shape;358;p18"/>
          <p:cNvCxnSpPr/>
          <p:nvPr/>
        </p:nvCxnSpPr>
        <p:spPr>
          <a:xfrm>
            <a:off x="5389798" y="1631629"/>
            <a:ext cx="7706861" cy="19050"/>
          </a:xfrm>
          <a:prstGeom prst="straightConnector1">
            <a:avLst/>
          </a:prstGeom>
          <a:noFill/>
          <a:ln cap="flat" cmpd="sng" w="38100">
            <a:solidFill>
              <a:srgbClr val="FFFFFF"/>
            </a:solidFill>
            <a:prstDash val="solid"/>
            <a:round/>
            <a:headEnd len="sm" w="sm" type="none"/>
            <a:tailEnd len="sm" w="sm" type="none"/>
          </a:ln>
        </p:spPr>
      </p:cxnSp>
      <p:graphicFrame>
        <p:nvGraphicFramePr>
          <p:cNvPr id="359" name="Google Shape;359;p18"/>
          <p:cNvGraphicFramePr/>
          <p:nvPr/>
        </p:nvGraphicFramePr>
        <p:xfrm>
          <a:off x="1094208" y="1971567"/>
          <a:ext cx="3000000" cy="3000000"/>
        </p:xfrm>
        <a:graphic>
          <a:graphicData uri="http://schemas.openxmlformats.org/drawingml/2006/table">
            <a:tbl>
              <a:tblPr>
                <a:noFill/>
                <a:tableStyleId>{0985F959-7E72-4A40-A366-C58715417326}</a:tableStyleId>
              </a:tblPr>
              <a:tblGrid>
                <a:gridCol w="2438400"/>
                <a:gridCol w="2438400"/>
                <a:gridCol w="2438400"/>
              </a:tblGrid>
              <a:tr h="1360950">
                <a:tc>
                  <a:txBody>
                    <a:bodyPr/>
                    <a:lstStyle/>
                    <a:p>
                      <a:pPr indent="0" lvl="0" marL="0" marR="0" rtl="0" algn="ctr">
                        <a:lnSpc>
                          <a:spcPct val="140016"/>
                        </a:lnSpc>
                        <a:spcBef>
                          <a:spcPts val="0"/>
                        </a:spcBef>
                        <a:spcAft>
                          <a:spcPts val="0"/>
                        </a:spcAft>
                        <a:buNone/>
                      </a:pPr>
                      <a:r>
                        <a:rPr b="1" lang="en-US" sz="2499" u="sng" cap="none" strike="noStrike">
                          <a:solidFill>
                            <a:srgbClr val="FFFFFF"/>
                          </a:solidFill>
                          <a:latin typeface="Arial"/>
                          <a:ea typeface="Arial"/>
                          <a:cs typeface="Arial"/>
                          <a:sym typeface="Arial"/>
                        </a:rPr>
                        <a:t>Stage</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c>
                  <a:txBody>
                    <a:bodyPr/>
                    <a:lstStyle/>
                    <a:p>
                      <a:pPr indent="0" lvl="0" marL="0" marR="0" rtl="0" algn="ctr">
                        <a:lnSpc>
                          <a:spcPct val="140016"/>
                        </a:lnSpc>
                        <a:spcBef>
                          <a:spcPts val="0"/>
                        </a:spcBef>
                        <a:spcAft>
                          <a:spcPts val="0"/>
                        </a:spcAft>
                        <a:buNone/>
                      </a:pPr>
                      <a:r>
                        <a:rPr b="1" lang="en-US" sz="2499" u="sng" cap="none" strike="noStrike">
                          <a:solidFill>
                            <a:srgbClr val="FFFFFF"/>
                          </a:solidFill>
                          <a:latin typeface="Arial"/>
                          <a:ea typeface="Arial"/>
                          <a:cs typeface="Arial"/>
                          <a:sym typeface="Arial"/>
                        </a:rPr>
                        <a:t>Project Name</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c>
                  <a:txBody>
                    <a:bodyPr/>
                    <a:lstStyle/>
                    <a:p>
                      <a:pPr indent="0" lvl="0" marL="0" marR="0" rtl="0" algn="ctr">
                        <a:lnSpc>
                          <a:spcPct val="140016"/>
                        </a:lnSpc>
                        <a:spcBef>
                          <a:spcPts val="0"/>
                        </a:spcBef>
                        <a:spcAft>
                          <a:spcPts val="0"/>
                        </a:spcAft>
                        <a:buNone/>
                      </a:pPr>
                      <a:r>
                        <a:rPr b="1" lang="en-US" sz="2499" u="sng" cap="none" strike="noStrike">
                          <a:solidFill>
                            <a:srgbClr val="FFFFFF"/>
                          </a:solidFill>
                          <a:latin typeface="Arial"/>
                          <a:ea typeface="Arial"/>
                          <a:cs typeface="Arial"/>
                          <a:sym typeface="Arial"/>
                        </a:rPr>
                        <a:t>Author(s)</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r>
              <a:tr h="2176425">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 Classical Improvement</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Improved A* Algorithm for Mobile Robot Path Planning</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Y. Zhang, X. Wang, L. Chen</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r>
              <a:tr h="2006525">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Dynamic Extension</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Dynamic Path Planning based on A* Replanning</a:t>
                      </a:r>
                      <a:endParaRPr sz="1100" u="none" cap="none" strike="noStrike"/>
                    </a:p>
                    <a:p>
                      <a:pPr indent="0" lvl="0" marL="0" marR="0" rtl="0" algn="ctr">
                        <a:lnSpc>
                          <a:spcPct val="241727"/>
                        </a:lnSpc>
                        <a:spcBef>
                          <a:spcPts val="0"/>
                        </a:spcBef>
                        <a:spcAft>
                          <a:spcPts val="0"/>
                        </a:spcAft>
                        <a:buNone/>
                      </a:pPr>
                      <a:r>
                        <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X. Li, J. Zhou, Q. Huang, and Y. Li</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r>
              <a:tr h="2197325">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Advance Optimization</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A* Optimization using Jump Point Search &amp; Octile Heuristic</a:t>
                      </a:r>
                      <a:endParaRPr sz="1100" u="none" cap="none" strike="noStrike"/>
                    </a:p>
                    <a:p>
                      <a:pPr indent="0" lvl="0" marL="0" marR="0" rtl="0" algn="ctr">
                        <a:lnSpc>
                          <a:spcPct val="241727"/>
                        </a:lnSpc>
                        <a:spcBef>
                          <a:spcPts val="0"/>
                        </a:spcBef>
                        <a:spcAft>
                          <a:spcPts val="0"/>
                        </a:spcAft>
                        <a:buNone/>
                      </a:pPr>
                      <a:r>
                        <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Prof. Ashwini Tekale (Guide), under the JSPM Narhe Technical Campus</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r>
            </a:tbl>
          </a:graphicData>
        </a:graphic>
      </p:graphicFrame>
      <p:graphicFrame>
        <p:nvGraphicFramePr>
          <p:cNvPr id="360" name="Google Shape;360;p18"/>
          <p:cNvGraphicFramePr/>
          <p:nvPr/>
        </p:nvGraphicFramePr>
        <p:xfrm>
          <a:off x="8409408" y="1971567"/>
          <a:ext cx="3000000" cy="3000000"/>
        </p:xfrm>
        <a:graphic>
          <a:graphicData uri="http://schemas.openxmlformats.org/drawingml/2006/table">
            <a:tbl>
              <a:tblPr>
                <a:noFill/>
                <a:tableStyleId>{0985F959-7E72-4A40-A366-C58715417326}</a:tableStyleId>
              </a:tblPr>
              <a:tblGrid>
                <a:gridCol w="1888475"/>
                <a:gridCol w="4011450"/>
                <a:gridCol w="2949975"/>
              </a:tblGrid>
              <a:tr h="1376650">
                <a:tc>
                  <a:txBody>
                    <a:bodyPr/>
                    <a:lstStyle/>
                    <a:p>
                      <a:pPr indent="0" lvl="0" marL="0" marR="0" rtl="0" algn="ctr">
                        <a:lnSpc>
                          <a:spcPct val="140016"/>
                        </a:lnSpc>
                        <a:spcBef>
                          <a:spcPts val="0"/>
                        </a:spcBef>
                        <a:spcAft>
                          <a:spcPts val="0"/>
                        </a:spcAft>
                        <a:buNone/>
                      </a:pPr>
                      <a:r>
                        <a:rPr b="1" lang="en-US" sz="2499" u="sng" cap="none" strike="noStrike">
                          <a:solidFill>
                            <a:srgbClr val="FFFFFF"/>
                          </a:solidFill>
                          <a:latin typeface="Arial"/>
                          <a:ea typeface="Arial"/>
                          <a:cs typeface="Arial"/>
                          <a:sym typeface="Arial"/>
                        </a:rPr>
                        <a:t>Year</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c>
                  <a:txBody>
                    <a:bodyPr/>
                    <a:lstStyle/>
                    <a:p>
                      <a:pPr indent="0" lvl="0" marL="0" marR="0" rtl="0" algn="ctr">
                        <a:lnSpc>
                          <a:spcPct val="140016"/>
                        </a:lnSpc>
                        <a:spcBef>
                          <a:spcPts val="0"/>
                        </a:spcBef>
                        <a:spcAft>
                          <a:spcPts val="0"/>
                        </a:spcAft>
                        <a:buNone/>
                      </a:pPr>
                      <a:r>
                        <a:rPr b="1" lang="en-US" sz="2499" u="sng" cap="none" strike="noStrike">
                          <a:solidFill>
                            <a:srgbClr val="FFFFFF"/>
                          </a:solidFill>
                          <a:latin typeface="Arial"/>
                          <a:ea typeface="Arial"/>
                          <a:cs typeface="Arial"/>
                          <a:sym typeface="Arial"/>
                        </a:rPr>
                        <a:t>Problem Resolved</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c>
                  <a:txBody>
                    <a:bodyPr/>
                    <a:lstStyle/>
                    <a:p>
                      <a:pPr indent="0" lvl="0" marL="0" marR="0" rtl="0" algn="ctr">
                        <a:lnSpc>
                          <a:spcPct val="140016"/>
                        </a:lnSpc>
                        <a:spcBef>
                          <a:spcPts val="0"/>
                        </a:spcBef>
                        <a:spcAft>
                          <a:spcPts val="0"/>
                        </a:spcAft>
                        <a:buNone/>
                      </a:pPr>
                      <a:r>
                        <a:rPr b="1" lang="en-US" sz="2499" u="sng" cap="none" strike="noStrike">
                          <a:solidFill>
                            <a:srgbClr val="FFFFFF"/>
                          </a:solidFill>
                          <a:latin typeface="Arial"/>
                          <a:ea typeface="Arial"/>
                          <a:cs typeface="Arial"/>
                          <a:sym typeface="Arial"/>
                        </a:rPr>
                        <a:t>Remaining Gaps</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r>
              <a:tr h="2149175">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2020</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Reduced node expansion and improved computational efficiency of classical A* in static grid environments</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No dynamic obstacle handling; limited heuristic comparison</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r>
              <a:tr h="2011750">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2021</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Introduced real-time replanning in changing environments</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No benchmarking of different heuristics; limited performance evaluation metrics</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r>
              <a:tr h="2197800">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2025</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Improved search speed using Octile heuristic and pruning strategies</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FFFFFF"/>
                          </a:solidFill>
                          <a:latin typeface="Arial"/>
                          <a:ea typeface="Arial"/>
                          <a:cs typeface="Arial"/>
                          <a:sym typeface="Arial"/>
                        </a:rPr>
                        <a:t>Focused on optimization only; did not integrate dynamic replanning with heuristic comparison</a:t>
                      </a:r>
                      <a:endParaRPr sz="1100" u="none" cap="none" strike="noStrike"/>
                    </a:p>
                  </a:txBody>
                  <a:tcPr marT="190500" marB="190500" marR="190500" marL="190500" anchor="ctr">
                    <a:lnL cap="flat" cmpd="sng" w="47625">
                      <a:solidFill>
                        <a:srgbClr val="EEEEEE"/>
                      </a:solidFill>
                      <a:prstDash val="solid"/>
                      <a:round/>
                      <a:headEnd len="sm" w="sm" type="none"/>
                      <a:tailEnd len="sm" w="sm" type="none"/>
                    </a:lnL>
                    <a:lnR cap="flat" cmpd="sng" w="47625">
                      <a:solidFill>
                        <a:srgbClr val="EEEEEE"/>
                      </a:solidFill>
                      <a:prstDash val="solid"/>
                      <a:round/>
                      <a:headEnd len="sm" w="sm" type="none"/>
                      <a:tailEnd len="sm" w="sm" type="none"/>
                    </a:lnR>
                    <a:lnT cap="flat" cmpd="sng" w="47625">
                      <a:solidFill>
                        <a:srgbClr val="EEEEEE"/>
                      </a:solidFill>
                      <a:prstDash val="solid"/>
                      <a:round/>
                      <a:headEnd len="sm" w="sm" type="none"/>
                      <a:tailEnd len="sm" w="sm" type="none"/>
                    </a:lnT>
                    <a:lnB cap="flat" cmpd="sng" w="47625">
                      <a:solidFill>
                        <a:srgbClr val="EEEEEE"/>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3E46"/>
        </a:solidFill>
      </p:bgPr>
    </p:bg>
    <p:spTree>
      <p:nvGrpSpPr>
        <p:cNvPr id="364" name="Shape 364"/>
        <p:cNvGrpSpPr/>
        <p:nvPr/>
      </p:nvGrpSpPr>
      <p:grpSpPr>
        <a:xfrm>
          <a:off x="0" y="0"/>
          <a:ext cx="0" cy="0"/>
          <a:chOff x="0" y="0"/>
          <a:chExt cx="0" cy="0"/>
        </a:xfrm>
      </p:grpSpPr>
      <p:sp>
        <p:nvSpPr>
          <p:cNvPr id="365" name="Google Shape;365;p19"/>
          <p:cNvSpPr/>
          <p:nvPr/>
        </p:nvSpPr>
        <p:spPr>
          <a:xfrm rot="-4299043">
            <a:off x="-1746670" y="4230785"/>
            <a:ext cx="11240987" cy="1825430"/>
          </a:xfrm>
          <a:custGeom>
            <a:rect b="b" l="l" r="r" t="t"/>
            <a:pathLst>
              <a:path extrusionOk="0" h="1825430" w="11240987">
                <a:moveTo>
                  <a:pt x="0" y="0"/>
                </a:moveTo>
                <a:lnTo>
                  <a:pt x="11240987" y="0"/>
                </a:lnTo>
                <a:lnTo>
                  <a:pt x="11240987" y="1825430"/>
                </a:lnTo>
                <a:lnTo>
                  <a:pt x="0" y="1825430"/>
                </a:lnTo>
                <a:lnTo>
                  <a:pt x="0" y="0"/>
                </a:lnTo>
                <a:close/>
              </a:path>
            </a:pathLst>
          </a:custGeom>
          <a:blipFill rotWithShape="1">
            <a:blip r:embed="rId3">
              <a:alphaModFix/>
            </a:blip>
            <a:stretch>
              <a:fillRect b="-6994" l="0" r="0" t="0"/>
            </a:stretch>
          </a:blipFill>
          <a:ln>
            <a:noFill/>
          </a:ln>
        </p:spPr>
      </p:sp>
      <p:grpSp>
        <p:nvGrpSpPr>
          <p:cNvPr id="366" name="Google Shape;366;p19"/>
          <p:cNvGrpSpPr/>
          <p:nvPr/>
        </p:nvGrpSpPr>
        <p:grpSpPr>
          <a:xfrm rot="1107706">
            <a:off x="-898562" y="-1711561"/>
            <a:ext cx="5280133" cy="12606782"/>
            <a:chOff x="0" y="-38100"/>
            <a:chExt cx="1390652" cy="3320305"/>
          </a:xfrm>
        </p:grpSpPr>
        <p:sp>
          <p:nvSpPr>
            <p:cNvPr id="367" name="Google Shape;367;p19"/>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363636"/>
            </a:solidFill>
            <a:ln>
              <a:noFill/>
            </a:ln>
          </p:spPr>
        </p:sp>
        <p:sp>
          <p:nvSpPr>
            <p:cNvPr id="368" name="Google Shape;368;p19"/>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9" name="Google Shape;369;p19"/>
          <p:cNvSpPr/>
          <p:nvPr/>
        </p:nvSpPr>
        <p:spPr>
          <a:xfrm rot="-4299043">
            <a:off x="-2646668" y="4025505"/>
            <a:ext cx="11240987" cy="1953121"/>
          </a:xfrm>
          <a:custGeom>
            <a:rect b="b" l="l" r="r" t="t"/>
            <a:pathLst>
              <a:path extrusionOk="0" h="1953121" w="11240987">
                <a:moveTo>
                  <a:pt x="0" y="0"/>
                </a:moveTo>
                <a:lnTo>
                  <a:pt x="11240987" y="0"/>
                </a:lnTo>
                <a:lnTo>
                  <a:pt x="11240987" y="1953121"/>
                </a:lnTo>
                <a:lnTo>
                  <a:pt x="0" y="1953121"/>
                </a:lnTo>
                <a:lnTo>
                  <a:pt x="0" y="0"/>
                </a:lnTo>
                <a:close/>
              </a:path>
            </a:pathLst>
          </a:custGeom>
          <a:blipFill rotWithShape="1">
            <a:blip r:embed="rId3">
              <a:alphaModFix/>
            </a:blip>
            <a:stretch>
              <a:fillRect b="0" l="0" r="0" t="0"/>
            </a:stretch>
          </a:blipFill>
          <a:ln>
            <a:noFill/>
          </a:ln>
        </p:spPr>
      </p:sp>
      <p:grpSp>
        <p:nvGrpSpPr>
          <p:cNvPr id="370" name="Google Shape;370;p19"/>
          <p:cNvGrpSpPr/>
          <p:nvPr/>
        </p:nvGrpSpPr>
        <p:grpSpPr>
          <a:xfrm rot="1107706">
            <a:off x="-1857555" y="-1960752"/>
            <a:ext cx="5280133" cy="12606782"/>
            <a:chOff x="0" y="-38100"/>
            <a:chExt cx="1390652" cy="3320305"/>
          </a:xfrm>
        </p:grpSpPr>
        <p:sp>
          <p:nvSpPr>
            <p:cNvPr id="371" name="Google Shape;371;p19"/>
            <p:cNvSpPr/>
            <p:nvPr/>
          </p:nvSpPr>
          <p:spPr>
            <a:xfrm>
              <a:off x="0" y="0"/>
              <a:ext cx="1390652" cy="3282205"/>
            </a:xfrm>
            <a:custGeom>
              <a:rect b="b" l="l" r="r" t="t"/>
              <a:pathLst>
                <a:path extrusionOk="0" h="3282205" w="1390652">
                  <a:moveTo>
                    <a:pt x="0" y="0"/>
                  </a:moveTo>
                  <a:lnTo>
                    <a:pt x="1390652" y="0"/>
                  </a:lnTo>
                  <a:lnTo>
                    <a:pt x="1390652" y="3282205"/>
                  </a:lnTo>
                  <a:lnTo>
                    <a:pt x="0" y="3282205"/>
                  </a:lnTo>
                  <a:close/>
                </a:path>
              </a:pathLst>
            </a:custGeom>
            <a:solidFill>
              <a:srgbClr val="EEEEEE"/>
            </a:solidFill>
            <a:ln>
              <a:noFill/>
            </a:ln>
          </p:spPr>
        </p:sp>
        <p:sp>
          <p:nvSpPr>
            <p:cNvPr id="372" name="Google Shape;372;p19"/>
            <p:cNvSpPr txBox="1"/>
            <p:nvPr/>
          </p:nvSpPr>
          <p:spPr>
            <a:xfrm>
              <a:off x="0" y="-38100"/>
              <a:ext cx="1390652" cy="33203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3" name="Google Shape;373;p19"/>
          <p:cNvSpPr txBox="1"/>
          <p:nvPr/>
        </p:nvSpPr>
        <p:spPr>
          <a:xfrm>
            <a:off x="6703396" y="2066928"/>
            <a:ext cx="9232099" cy="3003151"/>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0" i="0" lang="en-US" sz="17551" u="none" cap="none" strike="noStrike">
                <a:solidFill>
                  <a:srgbClr val="FFFFFF"/>
                </a:solidFill>
                <a:latin typeface="League Spartan"/>
                <a:ea typeface="League Spartan"/>
                <a:cs typeface="League Spartan"/>
                <a:sym typeface="League Spartan"/>
              </a:rPr>
              <a:t>THANK</a:t>
            </a:r>
            <a:endParaRPr/>
          </a:p>
        </p:txBody>
      </p:sp>
      <p:sp>
        <p:nvSpPr>
          <p:cNvPr id="374" name="Google Shape;374;p19"/>
          <p:cNvSpPr txBox="1"/>
          <p:nvPr/>
        </p:nvSpPr>
        <p:spPr>
          <a:xfrm>
            <a:off x="8863579" y="4393737"/>
            <a:ext cx="5048322" cy="2406015"/>
          </a:xfrm>
          <a:prstGeom prst="rect">
            <a:avLst/>
          </a:prstGeom>
          <a:noFill/>
          <a:ln>
            <a:noFill/>
          </a:ln>
        </p:spPr>
        <p:txBody>
          <a:bodyPr anchorCtr="0" anchor="t" bIns="0" lIns="0" spcFirstLastPara="1" rIns="0" wrap="square" tIns="0">
            <a:spAutoFit/>
          </a:bodyPr>
          <a:lstStyle/>
          <a:p>
            <a:pPr indent="0" lvl="0" marL="0" marR="0" rtl="0" algn="l">
              <a:lnSpc>
                <a:spcPct val="140002"/>
              </a:lnSpc>
              <a:spcBef>
                <a:spcPts val="0"/>
              </a:spcBef>
              <a:spcAft>
                <a:spcPts val="0"/>
              </a:spcAft>
              <a:buNone/>
            </a:pPr>
            <a:r>
              <a:rPr b="0" i="0" lang="en-US" sz="14064" u="none" cap="none" strike="noStrike">
                <a:solidFill>
                  <a:srgbClr val="FFFFFF"/>
                </a:solidFill>
                <a:latin typeface="League Spartan"/>
                <a:ea typeface="League Spartan"/>
                <a:cs typeface="League Spartan"/>
                <a:sym typeface="League Spartan"/>
              </a:rPr>
              <a:t>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